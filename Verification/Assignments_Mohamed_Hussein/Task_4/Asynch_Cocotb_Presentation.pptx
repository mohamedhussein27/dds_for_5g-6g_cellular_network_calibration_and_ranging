
<file path=[Content_Types].xml><?xml version="1.0" encoding="utf-8"?>
<Types xmlns="http://schemas.openxmlformats.org/package/2006/content-types">
  <Default Extension="tmp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79" r:id="rId4"/>
    <p:sldId id="257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5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1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9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6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3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4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0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0236-64BE-CFB6-FB23-727AE8D28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18DB5-2531-AD00-976A-C4E02BD11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31EEB-EB3A-DE71-948B-7349223D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E12EA-4EB1-7064-1257-415925D1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7C991-810A-B583-8E4C-BF0DB830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51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729E-47AF-E288-078E-5841ED86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D0E6-39DA-4443-6123-765EFE39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2FA4-DE94-3580-73ED-4EB9C998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45DE0-0BB6-9694-99C7-9737E466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F664A-CF9F-69BF-842C-3E41411B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4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76CB-1CC5-CD38-5FA0-73CF316FB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EE4B7-7AF9-0CAC-9139-191A7BFFC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B6C4E-59DA-7011-C584-DF41CC42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4EDF-DDE4-0D88-122A-D7AF0C07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8189C-1287-D010-2FEA-98524D1D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98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2C8E-EE6C-A20A-96F4-7FA27734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8A354-ECDB-F66B-C8AF-38563F096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5CF5-4463-3B97-3AF6-6728BEA55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B0222-5257-EF21-C313-D7DEBC39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8152F-3E5B-18DC-F2EA-7BFD4AE7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0440A-465F-F5F5-FC4E-5A2D5FD9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77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D229-AEF3-AB03-8D47-12641C41B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CBB7B-5F13-C2FD-B667-83C285864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23AF8-3C2D-7087-64B4-F0219E702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B1545-4336-D24E-F444-AFFFA92B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0203D-E967-EA24-65A9-20A9F9F91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758D2-5153-9A16-5D4E-3051748E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9D429-581C-1695-1D49-EB9DC7F4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DDDDA-964E-74D9-2C84-82C2D439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98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1295-9ADD-7B97-8834-1A9B96E5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8F9E3-4C76-5F9C-8E76-FE7F4B2A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75073-8534-39C6-899F-9BEA1A8E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2490C-96C4-5940-D823-FC49C229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78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48532-2D15-27ED-A1E7-8A4142B6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D15C7-237E-49C7-A60C-DC42AE6B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77851-B6B6-EF4B-0D76-A5EF553D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4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CACA-DCC7-7FAC-DF1D-68F0B5A5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294A-7F52-9E5B-D2C3-B1E8F76C3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04025-CFB4-6D6B-4727-AC0375410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CF756-9914-ADED-089A-F97A75CF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A1CBA-BA88-64DC-2392-ACBC89FC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79BD8-FEC5-66AF-F6AE-FCDB10C8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82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5BE6-C890-600A-FF09-EA927655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43D5D-C1DA-CFC3-9E74-38226BEE9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A68E3-B146-3276-5CF1-13C5CE9A5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EDDE5-B9B3-4C0D-EDC9-6275E7CA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1E6EA-E12A-F022-FDCF-B11660BE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CF4B4-0AC9-3DD9-977C-EFB767BB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382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56C5-6454-9FC2-3C50-D6495CE86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72C52-F69F-ED2A-301F-5D2489F11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2B85-08BB-02A7-2F96-D3425E700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87F11-ABB1-FE54-4548-F9D87DBE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073AB-43AB-D18F-D89C-2341F398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87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4500E-EF61-9394-EDBD-C678260EE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C6038-CDBB-A331-5CAB-71AEA4876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6A7A-73B9-8E4C-B14A-6F32ABB5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D0B5-198D-341E-42E0-DADF5B58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109A-71B7-665D-B4C8-88B2390A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8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69019-708B-4ED7-8AE4-EB3F2AC97C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39A5D-06B1-488E-ACAB-20CB25990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1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32D04-C0AE-F2EA-7EEA-98055AAF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1F101-A2B1-C2F2-02B2-258F6C23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2F8FA-4F72-916D-BD07-430186B7D1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CC200-671D-4C41-B3EB-5F90A302296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7093F-E9CA-1476-EE60-D52F9923E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A1A7-459F-8A39-14BF-8D4D8767A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28F0C-7A9D-4527-BC28-6CDB19FABE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16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m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FB82-D954-5C6D-EFF8-3316BC5C9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2"/>
            <a:ext cx="9144000" cy="14331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GB" sz="49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Next-Generation Verification: Python </a:t>
            </a:r>
            <a:r>
              <a:rPr lang="en-GB" sz="4900" b="1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en-GB" sz="49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Co-Simulation, and </a:t>
            </a:r>
            <a:r>
              <a:rPr lang="en-GB" sz="4900" b="1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Cocotb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276723"/>
            <a:ext cx="9144000" cy="750154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How asynchronous programming made modern Python-based verification possible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  <p:pic>
        <p:nvPicPr>
          <p:cNvPr id="1026" name="Picture 2" descr="ASU-ENG SIS">
            <a:extLst>
              <a:ext uri="{FF2B5EF4-FFF2-40B4-BE49-F238E27FC236}">
                <a16:creationId xmlns:a16="http://schemas.microsoft.com/office/drawing/2014/main" id="{24EF12E0-B72B-F465-AD3B-8D4C16520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7" y="94968"/>
            <a:ext cx="2054789" cy="205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4"/>
          <p:cNvSpPr txBox="1">
            <a:spLocks/>
          </p:cNvSpPr>
          <p:nvPr/>
        </p:nvSpPr>
        <p:spPr>
          <a:xfrm>
            <a:off x="348763" y="5310676"/>
            <a:ext cx="4847492" cy="703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Presented by: </a:t>
            </a:r>
            <a:r>
              <a:rPr lang="en-GB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Mohamed Hussein</a:t>
            </a:r>
          </a:p>
          <a:p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Supervised by: </a:t>
            </a:r>
            <a:r>
              <a:rPr lang="en-GB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Eng. Mohamed El-</a:t>
            </a:r>
            <a:r>
              <a:rPr lang="en-GB" b="1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Awady</a:t>
            </a:r>
            <a:endParaRPr 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3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956"/>
            <a:ext cx="10515600" cy="5234299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b="1" dirty="0" smtClean="0">
                <a:latin typeface="Calibri (Body)"/>
              </a:rPr>
              <a:t>The Verification Challenge Today</a:t>
            </a:r>
            <a:r>
              <a:rPr lang="en-GB" dirty="0" smtClean="0">
                <a:latin typeface="Calibri (Body)"/>
              </a:rPr>
              <a:t/>
            </a:r>
            <a:br>
              <a:rPr lang="en-GB" dirty="0" smtClean="0">
                <a:latin typeface="Calibri (Body)"/>
              </a:rPr>
            </a:br>
            <a:r>
              <a:rPr lang="en-GB" dirty="0" smtClean="0">
                <a:latin typeface="Calibri (Body)"/>
              </a:rPr>
              <a:t> • Limitations of Traditional UVM-Based Flows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b="1" dirty="0">
                <a:latin typeface="Calibri (Body)"/>
              </a:rPr>
              <a:t>Asynchronous Programming Fundamentals</a:t>
            </a:r>
            <a:r>
              <a:rPr lang="en-GB" dirty="0" smtClean="0">
                <a:latin typeface="Calibri (Body)"/>
              </a:rPr>
              <a:t/>
            </a:r>
            <a:br>
              <a:rPr lang="en-GB" dirty="0" smtClean="0">
                <a:latin typeface="Calibri (Body)"/>
              </a:rPr>
            </a:br>
            <a:r>
              <a:rPr lang="en-GB" dirty="0" smtClean="0">
                <a:latin typeface="Calibri (Body)"/>
              </a:rPr>
              <a:t> • Event Loop &amp; Cooperative Concurrency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b="1" dirty="0">
                <a:latin typeface="Calibri (Body)"/>
              </a:rPr>
              <a:t>How </a:t>
            </a:r>
            <a:r>
              <a:rPr lang="en-GB" b="1" dirty="0" err="1">
                <a:latin typeface="Calibri (Body)"/>
              </a:rPr>
              <a:t>Cocotb</a:t>
            </a:r>
            <a:r>
              <a:rPr lang="en-GB" b="1" dirty="0">
                <a:latin typeface="Calibri (Body)"/>
              </a:rPr>
              <a:t> Works</a:t>
            </a:r>
            <a:r>
              <a:rPr lang="en-GB" dirty="0" smtClean="0">
                <a:latin typeface="Calibri (Body)"/>
              </a:rPr>
              <a:t/>
            </a:r>
            <a:br>
              <a:rPr lang="en-GB" dirty="0" smtClean="0">
                <a:latin typeface="Calibri (Body)"/>
              </a:rPr>
            </a:br>
            <a:r>
              <a:rPr lang="en-GB" dirty="0" smtClean="0">
                <a:latin typeface="Calibri (Body)"/>
              </a:rPr>
              <a:t> • Hardware-Aware Scheduler</a:t>
            </a:r>
            <a:br>
              <a:rPr lang="en-GB" dirty="0" smtClean="0">
                <a:latin typeface="Calibri (Body)"/>
              </a:rPr>
            </a:br>
            <a:r>
              <a:rPr lang="en-GB" dirty="0" smtClean="0">
                <a:latin typeface="Calibri (Body)"/>
              </a:rPr>
              <a:t> • Co-Simulation Architecture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b="1" dirty="0">
                <a:latin typeface="Calibri (Body)"/>
              </a:rPr>
              <a:t>Verification with Python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latin typeface="Calibri (Body)"/>
              </a:rPr>
              <a:t> • UVM Mapping</a:t>
            </a:r>
            <a:br>
              <a:rPr lang="en-GB" dirty="0">
                <a:latin typeface="Calibri (Body)"/>
              </a:rPr>
            </a:br>
            <a:r>
              <a:rPr lang="en-GB" dirty="0">
                <a:latin typeface="Calibri (Body)"/>
              </a:rPr>
              <a:t> • DSP &amp; Scientific </a:t>
            </a:r>
            <a:r>
              <a:rPr lang="en-GB" dirty="0" err="1">
                <a:latin typeface="Calibri (Body)"/>
              </a:rPr>
              <a:t>Modeling</a:t>
            </a:r>
            <a:r>
              <a:rPr lang="en-GB" dirty="0">
                <a:latin typeface="Calibri (Body)"/>
              </a:rPr>
              <a:t> Integration</a:t>
            </a:r>
            <a:endParaRPr lang="en-US" dirty="0">
              <a:latin typeface="Calibri (Body)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Calibri (Body)"/>
              </a:rPr>
              <a:t>Balanced Comparison &amp; Strategic View</a:t>
            </a:r>
            <a:r>
              <a:rPr lang="en-GB" dirty="0" smtClean="0">
                <a:latin typeface="Calibri (Body)"/>
              </a:rPr>
              <a:t/>
            </a:r>
            <a:br>
              <a:rPr lang="en-GB" dirty="0" smtClean="0">
                <a:latin typeface="Calibri (Body)"/>
              </a:rPr>
            </a:br>
            <a:r>
              <a:rPr lang="en-GB" dirty="0">
                <a:latin typeface="Calibri (Body)"/>
              </a:rPr>
              <a:t> • Strengths vs </a:t>
            </a:r>
            <a:r>
              <a:rPr lang="en-GB" dirty="0" err="1">
                <a:latin typeface="Calibri (Body)"/>
              </a:rPr>
              <a:t>SystemVerilog</a:t>
            </a:r>
            <a:r>
              <a:rPr lang="en-GB" dirty="0">
                <a:latin typeface="Calibri (Body)"/>
              </a:rPr>
              <a:t/>
            </a:r>
            <a:br>
              <a:rPr lang="en-GB" dirty="0">
                <a:latin typeface="Calibri (Body)"/>
              </a:rPr>
            </a:br>
            <a:r>
              <a:rPr lang="en-GB" dirty="0">
                <a:latin typeface="Calibri (Body)"/>
              </a:rPr>
              <a:t> • When to Use </a:t>
            </a:r>
            <a:r>
              <a:rPr lang="en-GB" dirty="0" err="1">
                <a:latin typeface="Calibri (Body)"/>
              </a:rPr>
              <a:t>Cocotb</a:t>
            </a:r>
            <a:endParaRPr lang="en-GB" dirty="0">
              <a:latin typeface="Calibri (Body)"/>
            </a:endParaRP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835662" cy="997683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solidFill>
                  <a:srgbClr val="0070C0"/>
                </a:solidFill>
                <a:latin typeface="+mn-lt"/>
              </a:rPr>
              <a:t>The Problem With Traditional Verification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27893" y="2425456"/>
            <a:ext cx="9835662" cy="357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b="1" dirty="0"/>
          </a:p>
        </p:txBody>
      </p:sp>
      <p:sp>
        <p:nvSpPr>
          <p:cNvPr id="1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88266" y="1494950"/>
            <a:ext cx="4657458" cy="413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 smtClean="0"/>
              <a:t>The Reality Today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dk1"/>
                </a:solidFill>
              </a:rPr>
              <a:t>Heavy UVM boilerplate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dk1"/>
                </a:solidFill>
              </a:rPr>
              <a:t>Long compile times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dk1"/>
                </a:solidFill>
              </a:rPr>
              <a:t>Steep learning curve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dk1"/>
                </a:solidFill>
              </a:rPr>
              <a:t>Hard integration with scientific tools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dk1"/>
                </a:solidFill>
              </a:rPr>
              <a:t>Difficult reuse outside simulation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Question: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Can we get hardware-accurate simulation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with software-level flexibility?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 altLang="en-US" sz="1800" b="1" dirty="0" smtClean="0"/>
              <a:t>Transition: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answer that → we must understand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asynchronous programming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64" y="1618060"/>
            <a:ext cx="6936336" cy="4046680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6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5462"/>
            <a:ext cx="10515600" cy="73855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What is Asynchronous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smtClean="0"/>
              <a:t>The Traditional Way: Multithreading</a:t>
            </a:r>
          </a:p>
          <a:p>
            <a:r>
              <a:rPr lang="en-GB" dirty="0" smtClean="0"/>
              <a:t>OS manages multiple threads</a:t>
            </a:r>
          </a:p>
          <a:p>
            <a:r>
              <a:rPr lang="en-GB" dirty="0" smtClean="0"/>
              <a:t>Context switching is expensive</a:t>
            </a:r>
          </a:p>
          <a:p>
            <a:r>
              <a:rPr lang="en-GB" dirty="0" smtClean="0"/>
              <a:t>Requires:</a:t>
            </a:r>
          </a:p>
          <a:p>
            <a:pPr lvl="1"/>
            <a:r>
              <a:rPr lang="en-GB" dirty="0" smtClean="0"/>
              <a:t>Locks</a:t>
            </a:r>
          </a:p>
          <a:p>
            <a:pPr lvl="1"/>
            <a:r>
              <a:rPr lang="en-GB" dirty="0" err="1" smtClean="0"/>
              <a:t>Mutexes</a:t>
            </a:r>
            <a:endParaRPr lang="en-GB" dirty="0" smtClean="0"/>
          </a:p>
          <a:p>
            <a:pPr lvl="1"/>
            <a:r>
              <a:rPr lang="en-GB" dirty="0" smtClean="0"/>
              <a:t>Semaphores</a:t>
            </a:r>
          </a:p>
          <a:p>
            <a:r>
              <a:rPr lang="en-GB" dirty="0" smtClean="0"/>
              <a:t>Risk of:</a:t>
            </a:r>
          </a:p>
          <a:p>
            <a:pPr lvl="1"/>
            <a:r>
              <a:rPr lang="en-GB" dirty="0" smtClean="0"/>
              <a:t>Deadlocks</a:t>
            </a:r>
          </a:p>
          <a:p>
            <a:pPr lvl="1"/>
            <a:r>
              <a:rPr lang="en-GB" dirty="0" smtClean="0"/>
              <a:t>Race conditions</a:t>
            </a:r>
          </a:p>
          <a:p>
            <a:r>
              <a:rPr lang="en-GB" dirty="0" smtClean="0"/>
              <a:t>Threads are </a:t>
            </a:r>
            <a:r>
              <a:rPr lang="en-GB" b="1" dirty="0" err="1" smtClean="0"/>
              <a:t>preemptive</a:t>
            </a:r>
            <a:r>
              <a:rPr lang="en-GB" dirty="0" smtClean="0"/>
              <a:t> → the OS decides when to pause them.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742" y="1994132"/>
            <a:ext cx="5060058" cy="2928722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The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Async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Way: Cooperative Multitasking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Python </a:t>
            </a:r>
            <a:r>
              <a:rPr lang="en-GB" dirty="0" err="1" smtClean="0"/>
              <a:t>Async</a:t>
            </a:r>
            <a:r>
              <a:rPr lang="en-GB" dirty="0" smtClean="0"/>
              <a:t> Model</a:t>
            </a:r>
          </a:p>
          <a:p>
            <a:pPr lvl="1"/>
            <a:r>
              <a:rPr lang="en-GB" sz="2000" dirty="0" smtClean="0"/>
              <a:t>Single thread</a:t>
            </a:r>
          </a:p>
          <a:p>
            <a:pPr lvl="1"/>
            <a:r>
              <a:rPr lang="en-GB" sz="2000" dirty="0" smtClean="0"/>
              <a:t>Single Event Loop</a:t>
            </a:r>
          </a:p>
          <a:p>
            <a:pPr lvl="1"/>
            <a:r>
              <a:rPr lang="en-GB" sz="2000" dirty="0" smtClean="0"/>
              <a:t>Tasks voluntarily yield control</a:t>
            </a:r>
          </a:p>
          <a:p>
            <a:pPr marL="0" indent="0">
              <a:buNone/>
            </a:pPr>
            <a:r>
              <a:rPr lang="en-US" dirty="0" smtClean="0"/>
              <a:t>When a </a:t>
            </a:r>
            <a:r>
              <a:rPr lang="en-US" dirty="0" err="1" smtClean="0"/>
              <a:t>coroutine</a:t>
            </a:r>
            <a:r>
              <a:rPr lang="en-US" dirty="0" smtClean="0"/>
              <a:t> hits </a:t>
            </a:r>
            <a:r>
              <a:rPr lang="en-US" i="1" dirty="0" smtClean="0"/>
              <a:t>await</a:t>
            </a:r>
            <a:r>
              <a:rPr lang="en-US" dirty="0" smtClean="0"/>
              <a:t>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000" dirty="0" smtClean="0"/>
              <a:t>It </a:t>
            </a:r>
            <a:r>
              <a:rPr lang="en-US" altLang="en-US" sz="2000" dirty="0"/>
              <a:t>pauses itself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000" dirty="0"/>
              <a:t>Returns control to event loop</a:t>
            </a:r>
          </a:p>
          <a:p>
            <a:pPr lvl="1" fontAlgn="base">
              <a:spcAft>
                <a:spcPct val="0"/>
              </a:spcAft>
            </a:pPr>
            <a:r>
              <a:rPr lang="en-US" altLang="en-US" sz="2000" dirty="0"/>
              <a:t>Another task runs instantly</a:t>
            </a:r>
          </a:p>
          <a:p>
            <a:pPr marL="0" indent="0">
              <a:buNone/>
            </a:pPr>
            <a:r>
              <a:rPr lang="en-GB" sz="2400" dirty="0" smtClean="0"/>
              <a:t>No OS thread switching.</a:t>
            </a:r>
            <a:br>
              <a:rPr lang="en-GB" sz="2400" dirty="0" smtClean="0"/>
            </a:br>
            <a:r>
              <a:rPr lang="en-GB" sz="2400" dirty="0" smtClean="0"/>
              <a:t>No locks.</a:t>
            </a:r>
            <a:br>
              <a:rPr lang="en-GB" sz="2400" dirty="0" smtClean="0"/>
            </a:br>
            <a:r>
              <a:rPr lang="en-GB" sz="2400" dirty="0" smtClean="0"/>
              <a:t>No heavy context switching.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4" y="2038870"/>
            <a:ext cx="4753638" cy="392484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3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How Time Moves (Concurrency Model)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 err="1" smtClean="0"/>
              <a:t>SystemVerilog</a:t>
            </a:r>
            <a:endParaRPr lang="en-GB" b="1" dirty="0" smtClean="0"/>
          </a:p>
          <a:p>
            <a:pPr marL="457200" lvl="1" indent="0">
              <a:buNone/>
            </a:pPr>
            <a:r>
              <a:rPr lang="en-GB" dirty="0" smtClean="0"/>
              <a:t>Uses:</a:t>
            </a:r>
          </a:p>
          <a:p>
            <a:pPr lvl="1"/>
            <a:r>
              <a:rPr lang="en-GB" dirty="0" smtClean="0"/>
              <a:t>Event-driven simulation kernel</a:t>
            </a:r>
          </a:p>
          <a:p>
            <a:pPr lvl="1"/>
            <a:r>
              <a:rPr lang="en-GB" dirty="0" smtClean="0"/>
              <a:t>Active region</a:t>
            </a:r>
          </a:p>
          <a:p>
            <a:pPr lvl="1"/>
            <a:r>
              <a:rPr lang="en-GB" dirty="0" smtClean="0"/>
              <a:t>Inactive region</a:t>
            </a:r>
          </a:p>
          <a:p>
            <a:pPr lvl="1"/>
            <a:r>
              <a:rPr lang="en-GB" dirty="0" smtClean="0"/>
              <a:t>NBA region</a:t>
            </a:r>
          </a:p>
          <a:p>
            <a:pPr lvl="1"/>
            <a:r>
              <a:rPr lang="en-GB" dirty="0" smtClean="0"/>
              <a:t>fork...join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GB" dirty="0" smtClean="0"/>
              <a:t>The simulator:</a:t>
            </a:r>
          </a:p>
          <a:p>
            <a:pPr lvl="1"/>
            <a:r>
              <a:rPr lang="en-GB" dirty="0" smtClean="0"/>
              <a:t>Pauses threads</a:t>
            </a:r>
          </a:p>
          <a:p>
            <a:pPr lvl="1"/>
            <a:r>
              <a:rPr lang="en-GB" dirty="0" smtClean="0"/>
              <a:t>Advances simulation time</a:t>
            </a:r>
          </a:p>
          <a:p>
            <a:pPr lvl="1"/>
            <a:r>
              <a:rPr lang="en-GB" dirty="0" smtClean="0"/>
              <a:t>Resumes threads</a:t>
            </a:r>
          </a:p>
          <a:p>
            <a:pPr lvl="1"/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Python </a:t>
            </a:r>
            <a:r>
              <a:rPr lang="en-GB" b="1" dirty="0" err="1" smtClean="0"/>
              <a:t>Async</a:t>
            </a:r>
            <a:endParaRPr lang="en-GB" b="1" dirty="0" smtClean="0"/>
          </a:p>
          <a:p>
            <a:pPr lvl="1"/>
            <a:r>
              <a:rPr lang="en-GB" dirty="0" smtClean="0"/>
              <a:t>Event loop</a:t>
            </a:r>
          </a:p>
          <a:p>
            <a:pPr lvl="1"/>
            <a:r>
              <a:rPr lang="en-GB" dirty="0" smtClean="0"/>
              <a:t>Task scheduling</a:t>
            </a:r>
          </a:p>
          <a:p>
            <a:pPr lvl="1"/>
            <a:r>
              <a:rPr lang="en-GB" dirty="0" smtClean="0"/>
              <a:t>Cooperative yielding.</a:t>
            </a:r>
          </a:p>
          <a:p>
            <a:endParaRPr lang="en-GB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12" y="1468315"/>
            <a:ext cx="3137319" cy="3158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450" y="4626690"/>
            <a:ext cx="6235041" cy="2066352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0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6" y="355118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The Breakthrough: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Async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+ Hardware Simulation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1596" y="1784673"/>
            <a:ext cx="3983133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Async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gives us: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Controlled pausing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Controlled resuming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Deterministic scheduling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This is EXACTLY what a 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simulator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cocotb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replaces: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 smtClean="0">
                <a:solidFill>
                  <a:srgbClr val="0070C0"/>
                </a:solidFill>
                <a:latin typeface="Calibri (Body)"/>
              </a:rPr>
              <a:t>asyncio</a:t>
            </a:r>
            <a:r>
              <a:rPr lang="en-US" sz="2000" dirty="0" smtClean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libri (Body)"/>
              </a:rPr>
              <a:t>event </a:t>
            </a:r>
            <a:r>
              <a:rPr lang="en-US" sz="2000" dirty="0" smtClean="0">
                <a:solidFill>
                  <a:srgbClr val="0070C0"/>
                </a:solidFill>
                <a:latin typeface="Calibri (Body)"/>
              </a:rPr>
              <a:t>loop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Calibri (Body)"/>
              </a:rPr>
              <a:t>With</a:t>
            </a:r>
            <a:r>
              <a:rPr lang="en-US" sz="2000" dirty="0" smtClean="0">
                <a:latin typeface="Calibri (Body)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alibri (Body)"/>
              </a:rPr>
              <a:t>Hardware-aware scheduler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libri (Body)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583" y="2238999"/>
            <a:ext cx="7479554" cy="2815444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1467" y="278108"/>
            <a:ext cx="1241015" cy="5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How </a:t>
            </a:r>
            <a:r>
              <a:rPr lang="en-US" sz="4000" b="1" dirty="0" err="1">
                <a:solidFill>
                  <a:srgbClr val="0070C0"/>
                </a:solidFill>
                <a:latin typeface="+mn-lt"/>
              </a:rPr>
              <a:t>Cocotb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 smtClean="0">
                <a:latin typeface="Calibri (Body)"/>
              </a:rPr>
              <a:t>Standard Python:</a:t>
            </a:r>
          </a:p>
          <a:p>
            <a:pPr marL="0" indent="0">
              <a:buNone/>
            </a:pPr>
            <a:endParaRPr lang="en-US" dirty="0" smtClean="0">
              <a:latin typeface="Calibri (Body)"/>
            </a:endParaRPr>
          </a:p>
          <a:p>
            <a:pPr marL="0" indent="0">
              <a:buNone/>
            </a:pPr>
            <a:endParaRPr lang="en-US" dirty="0" smtClean="0">
              <a:latin typeface="Calibri (Body)"/>
            </a:endParaRPr>
          </a:p>
          <a:p>
            <a:pPr marL="0" indent="0">
              <a:buNone/>
            </a:pPr>
            <a:r>
              <a:rPr lang="en-US" sz="3800" b="1" dirty="0" err="1">
                <a:latin typeface="Calibri (Body)"/>
              </a:rPr>
              <a:t>Cocotb</a:t>
            </a:r>
            <a:r>
              <a:rPr lang="en-US" sz="3800" b="1" dirty="0">
                <a:latin typeface="Calibri (Body)"/>
              </a:rPr>
              <a:t>:</a:t>
            </a:r>
          </a:p>
          <a:p>
            <a:pPr marL="0" indent="0">
              <a:buNone/>
            </a:pPr>
            <a:endParaRPr lang="en-US" dirty="0" smtClean="0">
              <a:latin typeface="Calibri (Body)"/>
            </a:endParaRPr>
          </a:p>
          <a:p>
            <a:pPr marL="0" indent="0">
              <a:buNone/>
            </a:pPr>
            <a:endParaRPr lang="en-GB" dirty="0" smtClean="0">
              <a:latin typeface="Calibri (Body)"/>
            </a:endParaRPr>
          </a:p>
          <a:p>
            <a:pPr marL="0" indent="0">
              <a:buNone/>
            </a:pPr>
            <a:endParaRPr lang="en-GB" dirty="0" smtClean="0">
              <a:latin typeface="Calibri (Body)"/>
            </a:endParaRPr>
          </a:p>
          <a:p>
            <a:pPr marL="0" indent="0">
              <a:buNone/>
            </a:pPr>
            <a:r>
              <a:rPr lang="en-GB" sz="3400" dirty="0" smtClean="0">
                <a:latin typeface="Calibri (Body)"/>
              </a:rPr>
              <a:t>What </a:t>
            </a:r>
            <a:r>
              <a:rPr lang="en-GB" sz="3400" dirty="0">
                <a:latin typeface="Calibri (Body)"/>
              </a:rPr>
              <a:t>happens:</a:t>
            </a:r>
          </a:p>
          <a:p>
            <a:pPr lvl="1"/>
            <a:r>
              <a:rPr lang="en-GB" sz="2900" dirty="0" err="1">
                <a:latin typeface="Calibri (Body)"/>
              </a:rPr>
              <a:t>Coroutine</a:t>
            </a:r>
            <a:r>
              <a:rPr lang="en-GB" sz="2900" dirty="0">
                <a:latin typeface="Calibri (Body)"/>
              </a:rPr>
              <a:t> yields</a:t>
            </a:r>
          </a:p>
          <a:p>
            <a:pPr lvl="1"/>
            <a:r>
              <a:rPr lang="en-GB" sz="2900" dirty="0" err="1">
                <a:latin typeface="Calibri (Body)"/>
              </a:rPr>
              <a:t>Cocotb</a:t>
            </a:r>
            <a:r>
              <a:rPr lang="en-GB" sz="2900" dirty="0">
                <a:latin typeface="Calibri (Body)"/>
              </a:rPr>
              <a:t> notifies simulator (Questa, VCS, </a:t>
            </a:r>
            <a:r>
              <a:rPr lang="en-GB" sz="2900" dirty="0" err="1">
                <a:latin typeface="Calibri (Body)"/>
              </a:rPr>
              <a:t>Xcelium</a:t>
            </a:r>
            <a:r>
              <a:rPr lang="en-GB" sz="2900" dirty="0">
                <a:latin typeface="Calibri (Body)"/>
              </a:rPr>
              <a:t>)</a:t>
            </a:r>
          </a:p>
          <a:p>
            <a:pPr lvl="1"/>
            <a:r>
              <a:rPr lang="en-GB" sz="2900" dirty="0">
                <a:latin typeface="Calibri (Body)"/>
              </a:rPr>
              <a:t>Simulator advances simulation time</a:t>
            </a:r>
          </a:p>
          <a:p>
            <a:pPr lvl="1"/>
            <a:r>
              <a:rPr lang="en-GB" sz="2900" dirty="0">
                <a:latin typeface="Calibri (Body)"/>
              </a:rPr>
              <a:t>Event occurs</a:t>
            </a:r>
          </a:p>
          <a:p>
            <a:pPr lvl="1"/>
            <a:r>
              <a:rPr lang="en-GB" sz="2900" dirty="0" err="1">
                <a:latin typeface="Calibri (Body)"/>
              </a:rPr>
              <a:t>Coroutine</a:t>
            </a:r>
            <a:r>
              <a:rPr lang="en-GB" sz="2900" dirty="0">
                <a:latin typeface="Calibri (Body)"/>
              </a:rPr>
              <a:t> resumes</a:t>
            </a:r>
          </a:p>
          <a:p>
            <a:pPr marL="0" indent="0">
              <a:buNone/>
            </a:pPr>
            <a:r>
              <a:rPr lang="en-GB" sz="3400" dirty="0">
                <a:latin typeface="Calibri (Body)"/>
              </a:rPr>
              <a:t>Simulation time is now controlled from Python.</a:t>
            </a:r>
          </a:p>
          <a:p>
            <a:pPr marL="0" indent="0">
              <a:buNone/>
            </a:pPr>
            <a:r>
              <a:rPr lang="en-GB" sz="3400" dirty="0">
                <a:latin typeface="Calibri (Body)"/>
              </a:rPr>
              <a:t>That is the magic</a:t>
            </a:r>
            <a:r>
              <a:rPr lang="en-GB" sz="3400" dirty="0" smtClean="0"/>
              <a:t>.</a:t>
            </a:r>
            <a:endParaRPr lang="en-GB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8021"/>
            <a:ext cx="3385008" cy="4599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5011"/>
            <a:ext cx="3686666" cy="737333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3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Co-Simulation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932"/>
            <a:ext cx="10515600" cy="53170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</a:t>
            </a:r>
            <a:r>
              <a:rPr lang="en-US" b="1" dirty="0" err="1" smtClean="0"/>
              <a:t>SystemVerilog</a:t>
            </a:r>
            <a:r>
              <a:rPr lang="en-US" b="1" dirty="0" smtClean="0"/>
              <a:t> Way: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GB" sz="2000" dirty="0" smtClean="0"/>
          </a:p>
          <a:p>
            <a:r>
              <a:rPr lang="en-GB" sz="2000" dirty="0" err="1" smtClean="0"/>
              <a:t>Testbench</a:t>
            </a:r>
            <a:r>
              <a:rPr lang="en-GB" sz="2000" dirty="0" smtClean="0"/>
              <a:t> </a:t>
            </a:r>
            <a:r>
              <a:rPr lang="en-GB" sz="2000" dirty="0"/>
              <a:t>is </a:t>
            </a:r>
            <a:r>
              <a:rPr lang="en-GB" sz="2000" dirty="0" smtClean="0"/>
              <a:t>hardware.</a:t>
            </a:r>
          </a:p>
          <a:p>
            <a:r>
              <a:rPr lang="en-GB" sz="2000" dirty="0" smtClean="0"/>
              <a:t>DUT </a:t>
            </a:r>
            <a:r>
              <a:rPr lang="en-GB" sz="2000" dirty="0"/>
              <a:t>is </a:t>
            </a:r>
            <a:r>
              <a:rPr lang="en-GB" sz="2000" dirty="0" smtClean="0"/>
              <a:t>instantiated</a:t>
            </a:r>
          </a:p>
          <a:p>
            <a:pPr marL="0" indent="0">
              <a:buNone/>
            </a:pPr>
            <a:r>
              <a:rPr lang="en-US" b="1" dirty="0"/>
              <a:t>The </a:t>
            </a:r>
            <a:r>
              <a:rPr lang="en-US" b="1" dirty="0" err="1"/>
              <a:t>Cocotb</a:t>
            </a:r>
            <a:r>
              <a:rPr lang="en-US" b="1" dirty="0"/>
              <a:t> Way:</a:t>
            </a:r>
          </a:p>
          <a:p>
            <a:r>
              <a:rPr lang="en-US" sz="2000" dirty="0" smtClean="0"/>
              <a:t>No </a:t>
            </a:r>
            <a:r>
              <a:rPr lang="en-US" sz="2000" dirty="0" err="1" smtClean="0"/>
              <a:t>tb_top</a:t>
            </a:r>
            <a:endParaRPr lang="en-US" sz="2000" dirty="0" smtClean="0"/>
          </a:p>
          <a:p>
            <a:r>
              <a:rPr lang="en-US" sz="2000" dirty="0" smtClean="0"/>
              <a:t>No instantiation</a:t>
            </a:r>
          </a:p>
          <a:p>
            <a:r>
              <a:rPr lang="en-US" sz="2000" dirty="0" smtClean="0"/>
              <a:t>Pure Python testbench</a:t>
            </a:r>
          </a:p>
          <a:p>
            <a:pPr marL="0" indent="0">
              <a:buNone/>
            </a:pPr>
            <a:r>
              <a:rPr lang="en-US" b="1" dirty="0"/>
              <a:t>The Bridge</a:t>
            </a:r>
          </a:p>
          <a:p>
            <a:r>
              <a:rPr lang="en-US" sz="2000" dirty="0" err="1"/>
              <a:t>Cocotb</a:t>
            </a:r>
            <a:r>
              <a:rPr lang="en-US" sz="2000" dirty="0"/>
              <a:t> uses:</a:t>
            </a:r>
          </a:p>
          <a:p>
            <a:r>
              <a:rPr lang="en-US" sz="2000" dirty="0"/>
              <a:t>VPI (Verilog)</a:t>
            </a:r>
          </a:p>
          <a:p>
            <a:r>
              <a:rPr lang="en-US" sz="2000" dirty="0"/>
              <a:t>VHPI (VHDL)</a:t>
            </a:r>
          </a:p>
          <a:p>
            <a:r>
              <a:rPr lang="en-US" sz="2000" dirty="0"/>
              <a:t>FLI (Mentor)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34" y="2059528"/>
            <a:ext cx="2667000" cy="933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39" y="3129589"/>
            <a:ext cx="8180371" cy="3031067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3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Why This Architecture Is Powerful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 algn="l">
              <a:buFont typeface="+mj-lt"/>
              <a:buAutoNum type="arabicParenR"/>
            </a:pPr>
            <a:r>
              <a:rPr lang="en-GB" b="1" dirty="0" smtClean="0"/>
              <a:t>Separation </a:t>
            </a:r>
            <a:r>
              <a:rPr lang="en-GB" b="1" dirty="0"/>
              <a:t>of Concerns</a:t>
            </a:r>
          </a:p>
          <a:p>
            <a:pPr marL="457200" lvl="1" indent="0">
              <a:buNone/>
            </a:pPr>
            <a:r>
              <a:rPr lang="en-GB" dirty="0"/>
              <a:t>RTL = </a:t>
            </a:r>
            <a:r>
              <a:rPr lang="en-GB" dirty="0" smtClean="0"/>
              <a:t>Hardware</a:t>
            </a:r>
          </a:p>
          <a:p>
            <a:pPr marL="457200" lvl="1" indent="0">
              <a:buNone/>
            </a:pPr>
            <a:r>
              <a:rPr lang="en-GB" dirty="0" err="1" smtClean="0"/>
              <a:t>Testbench</a:t>
            </a:r>
            <a:r>
              <a:rPr lang="en-GB" dirty="0" smtClean="0"/>
              <a:t> </a:t>
            </a:r>
            <a:r>
              <a:rPr lang="en-GB" dirty="0"/>
              <a:t>= Software</a:t>
            </a:r>
          </a:p>
          <a:p>
            <a:pPr marL="457200" lvl="1" indent="0">
              <a:buNone/>
            </a:pPr>
            <a:r>
              <a:rPr lang="en-GB" dirty="0"/>
              <a:t>Cleaner architecture.</a:t>
            </a:r>
          </a:p>
          <a:p>
            <a:pPr marL="342900" indent="-342900">
              <a:buFont typeface="+mj-lt"/>
              <a:buAutoNum type="arabicParenR"/>
            </a:pPr>
            <a:r>
              <a:rPr lang="en-GB" b="1" dirty="0"/>
              <a:t>Language </a:t>
            </a:r>
            <a:r>
              <a:rPr lang="en-GB" b="1" dirty="0" smtClean="0"/>
              <a:t>Independence</a:t>
            </a:r>
          </a:p>
          <a:p>
            <a:pPr marL="457200" lvl="1" indent="0">
              <a:buNone/>
            </a:pPr>
            <a:r>
              <a:rPr lang="en-GB" dirty="0" smtClean="0"/>
              <a:t>RTL can be:</a:t>
            </a:r>
          </a:p>
          <a:p>
            <a:pPr lvl="2"/>
            <a:r>
              <a:rPr lang="en-GB" dirty="0" smtClean="0"/>
              <a:t>Verilog</a:t>
            </a:r>
            <a:endParaRPr lang="en-GB" dirty="0"/>
          </a:p>
          <a:p>
            <a:pPr lvl="2"/>
            <a:r>
              <a:rPr lang="en-GB" dirty="0" err="1"/>
              <a:t>SystemVerilog</a:t>
            </a:r>
            <a:endParaRPr lang="en-GB" dirty="0"/>
          </a:p>
          <a:p>
            <a:pPr lvl="2"/>
            <a:r>
              <a:rPr lang="en-GB" dirty="0"/>
              <a:t>VHDL</a:t>
            </a:r>
          </a:p>
          <a:p>
            <a:pPr marL="457200" lvl="1" indent="0">
              <a:buNone/>
            </a:pPr>
            <a:r>
              <a:rPr lang="en-GB" dirty="0" err="1"/>
              <a:t>Testbench</a:t>
            </a:r>
            <a:r>
              <a:rPr lang="en-GB" dirty="0"/>
              <a:t> is always Python</a:t>
            </a:r>
            <a:r>
              <a:rPr lang="en-GB" dirty="0" smtClean="0"/>
              <a:t>.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/>
              <a:t>No Recompile of Testbench</a:t>
            </a:r>
          </a:p>
          <a:p>
            <a:pPr marL="457200" lvl="1" indent="0">
              <a:buNone/>
            </a:pPr>
            <a:r>
              <a:rPr lang="en-US" dirty="0" err="1" smtClean="0"/>
              <a:t>SystemVerilog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Modify TB → recompile everything</a:t>
            </a:r>
          </a:p>
          <a:p>
            <a:pPr marL="457200" lvl="1" indent="0">
              <a:buNone/>
            </a:pPr>
            <a:r>
              <a:rPr lang="en-US" dirty="0" err="1"/>
              <a:t>Cocotb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Modify Python → rerun instantly</a:t>
            </a:r>
          </a:p>
          <a:p>
            <a:pPr marL="457200" lvl="1" indent="0">
              <a:buNone/>
            </a:pPr>
            <a:r>
              <a:rPr lang="en-US" dirty="0"/>
              <a:t>Huge productivity gain.</a:t>
            </a: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27" y="1600659"/>
            <a:ext cx="4334480" cy="4801270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9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719221"/>
              </p:ext>
            </p:extLst>
          </p:nvPr>
        </p:nvGraphicFramePr>
        <p:xfrm>
          <a:off x="838200" y="1546790"/>
          <a:ext cx="10515600" cy="2760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106141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31822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8310063"/>
                    </a:ext>
                  </a:extLst>
                </a:gridCol>
              </a:tblGrid>
              <a:tr h="552058">
                <a:tc>
                  <a:txBody>
                    <a:bodyPr/>
                    <a:lstStyle/>
                    <a:p>
                      <a:r>
                        <a:rPr lang="en-US"/>
                        <a:t>Python Async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UVM Equivalent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773226"/>
                  </a:ext>
                </a:extLst>
              </a:tr>
              <a:tr h="552058">
                <a:tc>
                  <a:txBody>
                    <a:bodyPr/>
                    <a:lstStyle/>
                    <a:p>
                      <a:r>
                        <a:rPr lang="en-US"/>
                        <a:t>Producer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uvm_driver / sequencer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Drives stimulus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5143"/>
                  </a:ext>
                </a:extLst>
              </a:tr>
              <a:tr h="552058">
                <a:tc>
                  <a:txBody>
                    <a:bodyPr/>
                    <a:lstStyle/>
                    <a:p>
                      <a:r>
                        <a:rPr lang="en-US" dirty="0"/>
                        <a:t>Consumer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Consumes stimulus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98158"/>
                  </a:ext>
                </a:extLst>
              </a:tr>
              <a:tr h="552058">
                <a:tc>
                  <a:txBody>
                    <a:bodyPr/>
                    <a:lstStyle/>
                    <a:p>
                      <a:r>
                        <a:rPr lang="en-US"/>
                        <a:t>Checker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uvm_scoreboard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Compares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767697"/>
                  </a:ext>
                </a:extLst>
              </a:tr>
              <a:tr h="552058"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uvm_env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Connects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19862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604408"/>
            <a:ext cx="10515600" cy="609096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Mapping UVM to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Cocotb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(Conceptual)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4640366"/>
            <a:ext cx="6959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The structure is </a:t>
            </a:r>
            <a:r>
              <a:rPr lang="en-GB" sz="2400" b="1" dirty="0"/>
              <a:t>identical</a:t>
            </a:r>
            <a:r>
              <a:rPr lang="en-GB" sz="2400" dirty="0"/>
              <a:t>.</a:t>
            </a:r>
          </a:p>
          <a:p>
            <a:r>
              <a:rPr lang="en-GB" sz="2400" dirty="0"/>
              <a:t>Only the language changes</a:t>
            </a:r>
            <a:r>
              <a:rPr lang="en-GB" dirty="0"/>
              <a:t>.</a:t>
            </a: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9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Time and Events Mapping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273018"/>
              </p:ext>
            </p:extLst>
          </p:nvPr>
        </p:nvGraphicFramePr>
        <p:xfrm>
          <a:off x="838200" y="1825625"/>
          <a:ext cx="10515600" cy="1727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562609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53740662"/>
                    </a:ext>
                  </a:extLst>
                </a:gridCol>
              </a:tblGrid>
              <a:tr h="43190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SystemVerilog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Cocotb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483672"/>
                  </a:ext>
                </a:extLst>
              </a:tr>
              <a:tr h="4319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#10ns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await Timer(10, "ns")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815479"/>
                  </a:ext>
                </a:extLst>
              </a:tr>
              <a:tr h="43190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@(posedge clk)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await RisingEdge(dut.clk)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98358"/>
                  </a:ext>
                </a:extLst>
              </a:tr>
              <a:tr h="43190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.value 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54851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07254"/>
              </p:ext>
            </p:extLst>
          </p:nvPr>
        </p:nvGraphicFramePr>
        <p:xfrm>
          <a:off x="838200" y="3553254"/>
          <a:ext cx="105156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208761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11120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63013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3155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Simulation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SystemVerilog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Cocotb Equivalent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68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Active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Procedural blocks 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Default coroutine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Driving signals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135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NBA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&lt;= scheduled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Handled by simulator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Non-blocking semantics preserved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3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Postponed /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Sampling after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await </a:t>
                      </a:r>
                      <a:r>
                        <a:rPr lang="en-US" dirty="0" err="1"/>
                        <a:t>ReadOnly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Safe scoreboard sampling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56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Pre-drive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Before signal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await ReadWrite()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Coordinated driving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510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Delta cycle advance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await NextTimeStep()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Avoid race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694624"/>
                  </a:ext>
                </a:extLst>
              </a:tr>
            </a:tbl>
          </a:graphicData>
        </a:graphic>
      </p:graphicFrame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Inter-Process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827804" cy="157560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Cocotb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000" dirty="0" err="1"/>
              <a:t>Async</a:t>
            </a:r>
            <a:r>
              <a:rPr lang="en-US" sz="2000" dirty="0"/>
              <a:t> Queue</a:t>
            </a:r>
          </a:p>
          <a:p>
            <a:pPr lvl="1"/>
            <a:r>
              <a:rPr lang="en-US" sz="2000" dirty="0"/>
              <a:t>Event</a:t>
            </a:r>
          </a:p>
          <a:p>
            <a:pPr lvl="1"/>
            <a:r>
              <a:rPr lang="en-US" sz="2000" dirty="0"/>
              <a:t>Python data structures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0" y="1825625"/>
            <a:ext cx="3455349" cy="1485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SystemVerilog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mailbox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semaphores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events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10646"/>
            <a:ext cx="4962258" cy="26292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10647"/>
            <a:ext cx="4506482" cy="26292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593991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smtClean="0"/>
              <a:t>Safer, Cleaner, No </a:t>
            </a:r>
            <a:r>
              <a:rPr lang="en-GB" dirty="0"/>
              <a:t>blocking deadlocks.</a:t>
            </a:r>
            <a:endParaRPr lang="en-US" dirty="0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6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Can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Cocotb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Do Everything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SystemVerilog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Can?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4351"/>
            <a:ext cx="4520013" cy="36522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✔ </a:t>
            </a:r>
            <a:r>
              <a:rPr lang="en-US" b="1" dirty="0"/>
              <a:t>Randomization</a:t>
            </a:r>
          </a:p>
          <a:p>
            <a:pPr marL="457200" lvl="1" indent="0">
              <a:buNone/>
            </a:pPr>
            <a:r>
              <a:rPr lang="en-US" dirty="0"/>
              <a:t>Use Python:</a:t>
            </a:r>
          </a:p>
          <a:p>
            <a:pPr lvl="2"/>
            <a:r>
              <a:rPr lang="en-US" dirty="0"/>
              <a:t>random</a:t>
            </a:r>
          </a:p>
          <a:p>
            <a:pPr lvl="2"/>
            <a:r>
              <a:rPr lang="en-US" dirty="0"/>
              <a:t>hypothesis</a:t>
            </a:r>
          </a:p>
          <a:p>
            <a:pPr lvl="2"/>
            <a:r>
              <a:rPr lang="en-US" dirty="0" err="1"/>
              <a:t>numpy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✔ Constrained Random</a:t>
            </a:r>
          </a:p>
          <a:p>
            <a:pPr lvl="1"/>
            <a:r>
              <a:rPr lang="en-US" dirty="0"/>
              <a:t>Write constraint </a:t>
            </a:r>
            <a:r>
              <a:rPr lang="en-US" dirty="0" smtClean="0"/>
              <a:t>functions.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SAT libraries if needed.</a:t>
            </a:r>
          </a:p>
          <a:p>
            <a:pPr marL="0" indent="0">
              <a:buNone/>
            </a:pPr>
            <a:r>
              <a:rPr lang="en-US" b="1" dirty="0"/>
              <a:t>✔ </a:t>
            </a:r>
            <a:r>
              <a:rPr lang="en-US" b="1" dirty="0" err="1"/>
              <a:t>Scoreboarding</a:t>
            </a:r>
            <a:endParaRPr lang="en-US" b="1" dirty="0"/>
          </a:p>
          <a:p>
            <a:pPr marL="457200" lvl="1" indent="0">
              <a:buNone/>
            </a:pPr>
            <a:r>
              <a:rPr lang="en-US" dirty="0"/>
              <a:t>Pure Python logic.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17735" y="2080904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✔ Coverage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Functional coverage via Python tracking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export coverage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 with simulator coverage</a:t>
            </a:r>
          </a:p>
          <a:p>
            <a:r>
              <a:rPr lang="en-US" sz="2800" b="1" dirty="0"/>
              <a:t>✔ Parallel drivers/monitors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Unlimited </a:t>
            </a:r>
            <a:r>
              <a:rPr lang="en-US" sz="2400" dirty="0" err="1"/>
              <a:t>coroutines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425932" y="5654586"/>
            <a:ext cx="53401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Yes — architecturally, nothing is missing</a:t>
            </a:r>
            <a:r>
              <a:rPr lang="en-US" sz="24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740" y="263850"/>
            <a:ext cx="1290105" cy="59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4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The Python Ecosystem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11325" cy="26010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SystemVerilog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Closed verification language</a:t>
            </a:r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 err="1"/>
              <a:t>SciPy</a:t>
            </a:r>
            <a:endParaRPr lang="en-US" dirty="0"/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 err="1"/>
              <a:t>TensorFlow</a:t>
            </a:r>
            <a:endParaRPr lang="en-US" dirty="0"/>
          </a:p>
          <a:p>
            <a:pPr lvl="1"/>
            <a:r>
              <a:rPr lang="en-US" dirty="0" err="1" smtClean="0"/>
              <a:t>Matplotlib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4426721"/>
            <a:ext cx="58018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Verifying: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OFDM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256-QAM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5G modem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Neural network accelerator</a:t>
            </a:r>
          </a:p>
          <a:p>
            <a:r>
              <a:rPr lang="en-US" sz="2000" b="1" dirty="0"/>
              <a:t>You can generate golden models directly in Python.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23" y="2576194"/>
            <a:ext cx="4512406" cy="3063570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745994" y="2206862"/>
            <a:ext cx="27110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AWGN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built-in function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535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2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7969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Asynchronous programming:</a:t>
            </a:r>
          </a:p>
          <a:p>
            <a:pPr lvl="1"/>
            <a:r>
              <a:rPr lang="en-US" dirty="0"/>
              <a:t>Made cooperative scheduling </a:t>
            </a:r>
            <a:r>
              <a:rPr lang="en-US" dirty="0" smtClean="0"/>
              <a:t>possible</a:t>
            </a:r>
          </a:p>
          <a:p>
            <a:pPr marL="0" indent="0">
              <a:buNone/>
            </a:pPr>
            <a:r>
              <a:rPr lang="en-US" dirty="0" smtClean="0"/>
              <a:t>Co-simulation:</a:t>
            </a:r>
          </a:p>
          <a:p>
            <a:pPr lvl="1"/>
            <a:r>
              <a:rPr lang="en-US" dirty="0" smtClean="0"/>
              <a:t>Connected </a:t>
            </a:r>
            <a:r>
              <a:rPr lang="en-US" dirty="0"/>
              <a:t>Python to RTL</a:t>
            </a:r>
          </a:p>
          <a:p>
            <a:pPr marL="0" indent="0">
              <a:buNone/>
            </a:pPr>
            <a:r>
              <a:rPr lang="en-US" dirty="0" err="1"/>
              <a:t>Cocotb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Combines both</a:t>
            </a:r>
          </a:p>
          <a:p>
            <a:pPr lvl="1"/>
            <a:r>
              <a:rPr lang="en-US" dirty="0"/>
              <a:t>Gives hardware-accurate simulation</a:t>
            </a:r>
          </a:p>
          <a:p>
            <a:pPr lvl="1"/>
            <a:r>
              <a:rPr lang="en-US" dirty="0"/>
              <a:t>With software-level flexibility</a:t>
            </a:r>
          </a:p>
          <a:p>
            <a:pPr marL="0" indent="0">
              <a:buNone/>
            </a:pPr>
            <a:r>
              <a:rPr lang="en-US" dirty="0"/>
              <a:t>It’s not replacing hardware simulation.</a:t>
            </a:r>
          </a:p>
          <a:p>
            <a:pPr marL="0" indent="0">
              <a:buNone/>
            </a:pPr>
            <a:r>
              <a:rPr lang="en-US" dirty="0"/>
              <a:t>It’s modernizing the testbench.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2178283"/>
            <a:ext cx="5608612" cy="3709769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9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Where </a:t>
            </a:r>
            <a:r>
              <a:rPr lang="en-GB" sz="4000" b="1" dirty="0" err="1">
                <a:solidFill>
                  <a:srgbClr val="0070C0"/>
                </a:solidFill>
                <a:latin typeface="+mn-lt"/>
              </a:rPr>
              <a:t>SystemVerilog</a:t>
            </a:r>
            <a:r>
              <a:rPr lang="en-GB" sz="4000" b="1" dirty="0">
                <a:solidFill>
                  <a:srgbClr val="0070C0"/>
                </a:solidFill>
                <a:latin typeface="+mn-lt"/>
              </a:rPr>
              <a:t> Is Stronger Today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4637" cy="840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/>
              <a:t>Cocotb</a:t>
            </a:r>
            <a:r>
              <a:rPr lang="en-GB" sz="2400" dirty="0"/>
              <a:t> is powerful — but </a:t>
            </a:r>
            <a:r>
              <a:rPr lang="en-GB" sz="2400" dirty="0" err="1"/>
              <a:t>SystemVerilog</a:t>
            </a:r>
            <a:r>
              <a:rPr lang="en-GB" sz="2400" dirty="0"/>
              <a:t> is still more mature in some verification-specific areas.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38200" y="2666288"/>
            <a:ext cx="6096000" cy="27546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Main Differences: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Built-in constraint solver (SV)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Native functional coverage DSL (SV)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Deep simulator/tool integration (SV)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Large enterprise ecosystem (SV</a:t>
            </a:r>
            <a:r>
              <a:rPr lang="en-US" sz="2400" dirty="0" smtClean="0"/>
              <a:t>)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/>
              <a:t>These are tooling maturity advantages — not fundamental language limitations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0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Constrained Random: Declarative vs Manual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3165" y="2019807"/>
            <a:ext cx="4544059" cy="2800741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73165" y="4820548"/>
            <a:ext cx="35621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Automatic solving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Cross-variable constraints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Backtracking constraint solver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3624" y="1435032"/>
            <a:ext cx="2591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>
                <a:solidFill>
                  <a:schemeClr val="bg1">
                    <a:lumMod val="50000"/>
                  </a:schemeClr>
                </a:solidFill>
              </a:rPr>
              <a:t>SystemVerilog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3" y="2019807"/>
            <a:ext cx="4205558" cy="28007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00184" y="1435032"/>
            <a:ext cx="1376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>
                <a:solidFill>
                  <a:schemeClr val="bg1">
                    <a:lumMod val="50000"/>
                  </a:schemeClr>
                </a:solidFill>
              </a:rPr>
              <a:t>Cocotb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85863" y="4959047"/>
            <a:ext cx="31854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Not declarative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No native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keywork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71344" y="6072991"/>
            <a:ext cx="68493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This is a </a:t>
            </a:r>
            <a:r>
              <a:rPr lang="en-GB" sz="2800" b="1" dirty="0"/>
              <a:t>library gap</a:t>
            </a:r>
            <a:r>
              <a:rPr lang="en-GB" sz="2800" dirty="0"/>
              <a:t>, not a language limitation</a:t>
            </a:r>
            <a:r>
              <a:rPr lang="en-GB" dirty="0"/>
              <a:t>.</a:t>
            </a:r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415" y="278107"/>
            <a:ext cx="1508068" cy="7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2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+mn-lt"/>
              </a:rPr>
              <a:t>Functional Coverage: Built-in vs Custom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7595" y="1983075"/>
            <a:ext cx="3645205" cy="27411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27595" y="4725989"/>
            <a:ext cx="30561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✔ Built-in bins</a:t>
            </a:r>
            <a:br>
              <a:rPr lang="en-GB" dirty="0"/>
            </a:br>
            <a:r>
              <a:rPr lang="en-GB" dirty="0"/>
              <a:t>✔ Cross coverage</a:t>
            </a:r>
            <a:br>
              <a:rPr lang="en-GB" dirty="0"/>
            </a:br>
            <a:r>
              <a:rPr lang="en-GB" dirty="0"/>
              <a:t>✔ Automatic reports</a:t>
            </a:r>
            <a:br>
              <a:rPr lang="en-GB" dirty="0"/>
            </a:br>
            <a:r>
              <a:rPr lang="en-GB" dirty="0"/>
              <a:t>✔ Integrated with simulator</a:t>
            </a:r>
          </a:p>
          <a:p>
            <a:r>
              <a:rPr lang="en-GB" b="1" dirty="0"/>
              <a:t>Very mature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1595" y="47259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✔ Flexible</a:t>
            </a:r>
            <a:br>
              <a:rPr lang="en-GB" dirty="0"/>
            </a:br>
            <a:r>
              <a:rPr lang="en-GB" dirty="0"/>
              <a:t>✔ Unlimited customization</a:t>
            </a:r>
            <a:br>
              <a:rPr lang="en-GB" dirty="0"/>
            </a:br>
            <a:r>
              <a:rPr lang="en-GB" dirty="0"/>
              <a:t>❌ No automatic bin engine</a:t>
            </a:r>
            <a:br>
              <a:rPr lang="en-GB" dirty="0"/>
            </a:br>
            <a:r>
              <a:rPr lang="en-GB" dirty="0"/>
              <a:t>❌ No native coverage database</a:t>
            </a:r>
          </a:p>
          <a:p>
            <a:r>
              <a:rPr lang="en-GB" b="1" dirty="0" smtClean="0"/>
              <a:t>tooling </a:t>
            </a:r>
            <a:r>
              <a:rPr lang="en-GB" b="1" dirty="0"/>
              <a:t>maturity issue.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95" y="1983075"/>
            <a:ext cx="3743847" cy="27429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15060" y="1398300"/>
            <a:ext cx="1376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>
                <a:solidFill>
                  <a:schemeClr val="bg1">
                    <a:lumMod val="50000"/>
                  </a:schemeClr>
                </a:solidFill>
              </a:rPr>
              <a:t>Cocotb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4329" y="1403636"/>
            <a:ext cx="2591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>
                <a:solidFill>
                  <a:schemeClr val="bg1">
                    <a:lumMod val="50000"/>
                  </a:schemeClr>
                </a:solidFill>
              </a:rPr>
              <a:t>SystemVerilog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6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Enterprise &amp; Tooling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large ASIC environments:</a:t>
            </a:r>
          </a:p>
          <a:p>
            <a:pPr lvl="1"/>
            <a:r>
              <a:rPr lang="en-GB" dirty="0"/>
              <a:t>UVM is </a:t>
            </a:r>
            <a:r>
              <a:rPr lang="en-GB" b="1" dirty="0"/>
              <a:t>standardized</a:t>
            </a:r>
          </a:p>
          <a:p>
            <a:pPr lvl="1"/>
            <a:r>
              <a:rPr lang="en-GB" dirty="0"/>
              <a:t>Coverage databases are integrated</a:t>
            </a:r>
          </a:p>
          <a:p>
            <a:pPr lvl="1"/>
            <a:r>
              <a:rPr lang="en-GB" dirty="0"/>
              <a:t>Regression systems are built around SV</a:t>
            </a:r>
          </a:p>
          <a:p>
            <a:pPr lvl="1"/>
            <a:r>
              <a:rPr lang="en-GB" dirty="0"/>
              <a:t>Teams are trained in UVM</a:t>
            </a:r>
          </a:p>
          <a:p>
            <a:pPr marL="0" indent="0">
              <a:buNone/>
            </a:pPr>
            <a:r>
              <a:rPr lang="en-GB" dirty="0"/>
              <a:t>Switching to </a:t>
            </a:r>
            <a:r>
              <a:rPr lang="en-GB" dirty="0" err="1"/>
              <a:t>cocotb</a:t>
            </a:r>
            <a:r>
              <a:rPr lang="en-GB" dirty="0"/>
              <a:t> requires:</a:t>
            </a:r>
          </a:p>
          <a:p>
            <a:pPr lvl="1"/>
            <a:r>
              <a:rPr lang="en-GB" dirty="0"/>
              <a:t>Infrastructure changes</a:t>
            </a:r>
          </a:p>
          <a:p>
            <a:pPr lvl="1"/>
            <a:r>
              <a:rPr lang="en-GB" b="1" dirty="0"/>
              <a:t>Cultural shift</a:t>
            </a:r>
          </a:p>
          <a:p>
            <a:pPr lvl="1"/>
            <a:r>
              <a:rPr lang="en-GB" dirty="0"/>
              <a:t>New regression strategy</a:t>
            </a:r>
          </a:p>
          <a:p>
            <a:endParaRPr lang="en-US" dirty="0"/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1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+mn-lt"/>
              </a:rPr>
              <a:t>Balanced Strategic 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141009"/>
              </p:ext>
            </p:extLst>
          </p:nvPr>
        </p:nvGraphicFramePr>
        <p:xfrm>
          <a:off x="838200" y="1644784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740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31506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3018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SystemVerilog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Cocotb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67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Constraint solving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Built-in &amp; powerful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/ library-based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30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Functional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Native DSL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0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Enterprise tooling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mature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Growing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Numerical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Extremely 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18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Ecosystem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HDL-focused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Massive Python ecosystem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46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68494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24963"/>
              </p:ext>
            </p:extLst>
          </p:nvPr>
        </p:nvGraphicFramePr>
        <p:xfrm>
          <a:off x="838200" y="4240664"/>
          <a:ext cx="105156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625178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0955451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Final Honest Takeaway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1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rgbClr val="0070C0"/>
                          </a:solidFill>
                        </a:rPr>
                        <a:t>SystemVerilog</a:t>
                      </a: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solidFill>
                            <a:srgbClr val="0070C0"/>
                          </a:solidFill>
                        </a:rPr>
                        <a:t>Cocotb</a:t>
                      </a:r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4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Specialized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Mature</a:t>
                      </a:r>
                    </a:p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Enterprise-proven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Flexible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Software-native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Rapidly evolving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Ideal for algorithm-heavy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18282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gaps (constraints, coverage) are shrinking — because Python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evolves faster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than hardware languages.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534334"/>
                  </a:ext>
                </a:extLst>
              </a:tr>
            </a:tbl>
          </a:graphicData>
        </a:graphic>
      </p:graphicFrame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35605652-A73E-1981-ECAA-CE545ED4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89" y="278107"/>
            <a:ext cx="1817494" cy="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5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857</Words>
  <Application>Microsoft Office PowerPoint</Application>
  <PresentationFormat>Widescreen</PresentationFormat>
  <Paragraphs>293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(Body)</vt:lpstr>
      <vt:lpstr>Calibri Light</vt:lpstr>
      <vt:lpstr>Office Theme</vt:lpstr>
      <vt:lpstr>1_Office Theme</vt:lpstr>
      <vt:lpstr> Next-Generation Verification: Python Async, Co-Simulation, and Cocotb</vt:lpstr>
      <vt:lpstr>Agenda</vt:lpstr>
      <vt:lpstr>The Problem With Traditional Verification</vt:lpstr>
      <vt:lpstr>What is Asynchronous Programming?</vt:lpstr>
      <vt:lpstr>The Async Way: Cooperative Multitasking</vt:lpstr>
      <vt:lpstr>How Time Moves (Concurrency Model)</vt:lpstr>
      <vt:lpstr>The Breakthrough: Async + Hardware Simulation</vt:lpstr>
      <vt:lpstr>How Cocotb Works Internally</vt:lpstr>
      <vt:lpstr>Co-Simulation Architecture</vt:lpstr>
      <vt:lpstr>Why This Architecture Is Powerful</vt:lpstr>
      <vt:lpstr>Mapping UVM to Cocotb (Conceptual)</vt:lpstr>
      <vt:lpstr>Time and Events Mapping</vt:lpstr>
      <vt:lpstr>Inter-Process Communication</vt:lpstr>
      <vt:lpstr>Can Cocotb Do Everything SystemVerilog Can?</vt:lpstr>
      <vt:lpstr>The Python Ecosystem Advantage</vt:lpstr>
      <vt:lpstr>The Big Picture</vt:lpstr>
      <vt:lpstr>Where SystemVerilog Is Stronger Today</vt:lpstr>
      <vt:lpstr>Constrained Random: Declarative vs Manual</vt:lpstr>
      <vt:lpstr>Functional Coverage: Built-in vs Custom</vt:lpstr>
      <vt:lpstr>Enterprise &amp; Tooling Considerations</vt:lpstr>
      <vt:lpstr>Balanced Strategic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DDS for 5G/6G Cellular Network Calibration and Ranging</dc:title>
  <dc:creator>DELL</dc:creator>
  <cp:lastModifiedBy>DELL</cp:lastModifiedBy>
  <cp:revision>34</cp:revision>
  <dcterms:created xsi:type="dcterms:W3CDTF">2026-02-26T11:59:29Z</dcterms:created>
  <dcterms:modified xsi:type="dcterms:W3CDTF">2026-03-05T16:31:19Z</dcterms:modified>
</cp:coreProperties>
</file>