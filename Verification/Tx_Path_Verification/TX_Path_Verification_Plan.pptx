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56" r:id="rId3"/>
    <p:sldId id="257" r:id="rId4"/>
    <p:sldId id="271" r:id="rId5"/>
    <p:sldId id="272" r:id="rId6"/>
    <p:sldId id="26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C5C"/>
    <a:srgbClr val="3B6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6.7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7.9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8.5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8.9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9.3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29.8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30.4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0:27:00.6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272 1 24575,'-4'1'0,"-1"0"0,0 0 0,0 1 0,0 0 0,1 0 0,-9 5 0,-15 5 0,18-9 0,5-2 0,1 0 0,0 0 0,0 0 0,-1 1 0,1-1 0,0 1 0,0 0 0,0 0 0,1 0 0,-1 1 0,0-1 0,1 1 0,0 0 0,0 0 0,0 0 0,0 1 0,0-1 0,-3 6 0,4-6 0,-1 0 0,1 0 0,-1 0 0,0 0 0,1-1 0,-1 1 0,-1-1 0,1 1 0,0-1 0,0 0 0,-1-1 0,1 1 0,-1 0 0,-7 1 0,-52 8 0,63-11 0,0 0 0,0 0 0,0 0 0,0 0 0,0 0 0,0 0 0,0 0 0,0-1 0,0 1 0,0 0 0,0 0 0,0 0 0,0 0 0,0 0 0,0 0 0,0 0 0,0 0 0,0-1 0,0 1 0,0 0 0,0 0 0,0 0 0,0 0 0,0 0 0,0 0 0,0 0 0,0 0 0,0 0 0,0 0 0,0-1 0,0 1 0,-1 0 0,1 0 0,0 0 0,0 0 0,0 0 0,0 0 0,0 0 0,0 0 0,0 0 0,0 0 0,0 0 0,0 0 0,-1 0 0,1 0 0,0 0 0,0 0 0,0 0 0,0 0 0,0 0 0,0 0 0,0 0 0,0 0 0,0 0 0,-1 0 0,1 0 0,0 0 0,0 0 0,0 0 0,0 0 0,0 0 0,0 0 0,0 0 0,0 0 0,11-9 0,26-16 0,-24 18 0,38-29-1365,-24 17-5461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1.4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1.9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2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2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3.3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3.9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24575,'4'0'0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13:14.4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42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0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7BA4-45DB-1720-2178-05944F2B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880EE-25C8-0654-D638-DDAD8C5A7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CF525-77E8-9E12-C54D-EDCD2B08C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B313E-DA58-1277-361F-325352822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06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01644-0EC3-8270-7E1B-8618145C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B59F3-E792-3E4D-F0E1-71DA63FCF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16D9B-0BEB-B75D-A0B1-9CB52FFD9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3A01-499D-B827-9740-8D79D4284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02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74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customXml" Target="../ink/ink3.xml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customXml" Target="../ink/ink7.xml"/><Relationship Id="rId5" Type="http://schemas.openxmlformats.org/officeDocument/2006/relationships/image" Target="../media/image6.png"/><Relationship Id="rId10" Type="http://schemas.openxmlformats.org/officeDocument/2006/relationships/customXml" Target="../ink/ink6.xml"/><Relationship Id="rId4" Type="http://schemas.openxmlformats.org/officeDocument/2006/relationships/customXml" Target="../ink/ink1.xml"/><Relationship Id="rId9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14.xml"/><Relationship Id="rId3" Type="http://schemas.openxmlformats.org/officeDocument/2006/relationships/image" Target="../media/image7.png"/><Relationship Id="rId7" Type="http://schemas.openxmlformats.org/officeDocument/2006/relationships/customXml" Target="../ink/ink9.xml"/><Relationship Id="rId12" Type="http://schemas.openxmlformats.org/officeDocument/2006/relationships/customXml" Target="../ink/ink13.xml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customXml" Target="../ink/ink12.xml"/><Relationship Id="rId5" Type="http://schemas.openxmlformats.org/officeDocument/2006/relationships/image" Target="../media/image8.png"/><Relationship Id="rId15" Type="http://schemas.openxmlformats.org/officeDocument/2006/relationships/image" Target="../media/image9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customXml" Target="../ink/ink10.xml"/><Relationship Id="rId14" Type="http://schemas.openxmlformats.org/officeDocument/2006/relationships/customXml" Target="../ink/ink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926080" cy="2926080"/>
          </a:xfrm>
          <a:prstGeom prst="ellipse">
            <a:avLst/>
          </a:prstGeom>
          <a:solidFill>
            <a:srgbClr val="0066AA">
              <a:alpha val="15000"/>
            </a:srgbClr>
          </a:solidFill>
          <a:ln w="12700">
            <a:solidFill>
              <a:srgbClr val="0066A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1828800" cy="182880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62684" y="843180"/>
            <a:ext cx="481863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0A8E8"/>
                </a:solidFill>
              </a:rPr>
              <a:t>TX PATH VERIFICATION PLAN</a:t>
            </a:r>
            <a:endParaRPr lang="en-US" sz="2400" dirty="0"/>
          </a:p>
        </p:txBody>
      </p:sp>
      <p:sp>
        <p:nvSpPr>
          <p:cNvPr id="34" name="Text 4"/>
          <p:cNvSpPr/>
          <p:nvPr/>
        </p:nvSpPr>
        <p:spPr>
          <a:xfrm>
            <a:off x="361317" y="1690320"/>
            <a:ext cx="4571291" cy="2282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0B0F0"/>
                </a:solidFill>
              </a:rPr>
              <a:t>Prepared by:</a:t>
            </a:r>
          </a:p>
          <a:p>
            <a:pPr marL="0" indent="0" algn="l">
              <a:buNone/>
            </a:pPr>
            <a:r>
              <a:rPr lang="en-US" sz="1600" b="1" kern="0" spc="300" dirty="0">
                <a:solidFill>
                  <a:schemeClr val="bg1"/>
                </a:solidFill>
              </a:rPr>
              <a:t>Ahmed Hossam</a:t>
            </a:r>
          </a:p>
          <a:p>
            <a:pPr marL="0" indent="0" algn="l">
              <a:buNone/>
            </a:pPr>
            <a:r>
              <a:rPr lang="en-US" sz="1600" b="1" kern="0" spc="300" dirty="0">
                <a:solidFill>
                  <a:schemeClr val="bg1"/>
                </a:solidFill>
              </a:rPr>
              <a:t>Mohamed Hussein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kern="0" spc="300" dirty="0">
                <a:solidFill>
                  <a:schemeClr val="bg1"/>
                </a:solidFill>
              </a:rPr>
              <a:t>Moustafa Dawood</a:t>
            </a:r>
          </a:p>
          <a:p>
            <a:pPr marL="0" indent="0" algn="l">
              <a:buNone/>
            </a:pPr>
            <a:r>
              <a:rPr lang="en-US" sz="2400" b="1" kern="0" spc="300" dirty="0">
                <a:solidFill>
                  <a:srgbClr val="00B0F0"/>
                </a:solidFill>
              </a:rPr>
              <a:t>Under supervision of:</a:t>
            </a:r>
          </a:p>
          <a:p>
            <a:pPr marL="0" indent="0" algn="l">
              <a:buNone/>
            </a:pPr>
            <a:r>
              <a:rPr lang="en-US" sz="1600" b="1" kern="0" spc="300" dirty="0">
                <a:solidFill>
                  <a:schemeClr val="bg1"/>
                </a:solidFill>
              </a:rPr>
              <a:t>Eng. Mohamed El-</a:t>
            </a:r>
            <a:r>
              <a:rPr lang="en-US" sz="1600" b="1" kern="0" spc="300" dirty="0" err="1">
                <a:solidFill>
                  <a:schemeClr val="bg1"/>
                </a:solidFill>
              </a:rPr>
              <a:t>Adawy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4056BF-6160-1948-C84C-4ACBFE9E2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102" y="364650"/>
            <a:ext cx="1522605" cy="55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5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926080" cy="2926080"/>
          </a:xfrm>
          <a:prstGeom prst="ellipse">
            <a:avLst/>
          </a:prstGeom>
          <a:solidFill>
            <a:srgbClr val="0066AA">
              <a:alpha val="15000"/>
            </a:srgbClr>
          </a:solidFill>
          <a:ln w="12700">
            <a:solidFill>
              <a:srgbClr val="0066A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1828800" cy="182880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A8E8"/>
                </a:solidFill>
              </a:rPr>
              <a:t>TX PATH VERIFICATION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Black-Box Testing · ISAC TX Wrapper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BB"/>
                </a:solidFill>
              </a:rPr>
              <a:t>Document 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V-Plan-TX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1777864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1834113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BB"/>
                </a:solidFill>
              </a:rPr>
              <a:t>Scope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66160" y="20802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Black-Box TX Path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1783080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BB"/>
                </a:solidFill>
              </a:rPr>
              <a:t>Date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0372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April 18, 2026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011680" cy="1005840"/>
          </a:xfrm>
          <a:prstGeom prst="rect">
            <a:avLst/>
          </a:prstGeom>
          <a:solidFill>
            <a:srgbClr val="0D2B5C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E8"/>
                </a:solidFill>
              </a:rPr>
              <a:t>14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004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2829488"/>
            <a:ext cx="2011680" cy="1005840"/>
          </a:xfrm>
          <a:prstGeom prst="rect">
            <a:avLst/>
          </a:prstGeom>
          <a:solidFill>
            <a:srgbClr val="0D2B5C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20440" y="28752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E8"/>
                </a:solidFill>
              </a:rPr>
              <a:t>7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520440" y="33964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</a:rPr>
              <a:t>Feature Areas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2834640"/>
            <a:ext cx="2011680" cy="1005840"/>
          </a:xfrm>
          <a:prstGeom prst="rect">
            <a:avLst/>
          </a:prstGeom>
          <a:solidFill>
            <a:srgbClr val="0D2B5C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E8"/>
                </a:solidFill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90372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</a:rPr>
              <a:t>Coverage Groups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</a:rPr>
              <a:t>Document ID: </a:t>
            </a:r>
            <a:r>
              <a:rPr lang="en-US" sz="750" dirty="0" err="1">
                <a:solidFill>
                  <a:srgbClr val="8899BB"/>
                </a:solidFill>
              </a:rPr>
              <a:t>VPlan</a:t>
            </a:r>
            <a:r>
              <a:rPr lang="en-US" sz="750" dirty="0">
                <a:solidFill>
                  <a:srgbClr val="8899BB"/>
                </a:solidFill>
              </a:rPr>
              <a:t>-TX  |  Status: DRAFT  |  Fs = 491.52 MHz  |  FFT/IFFT N = 4096  |  WL=16 FL=5</a:t>
            </a:r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B23691-87D3-99E5-100C-D8BB3DDF2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B5F52A-F445-27D4-EBC8-30783AEFF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17" y="292663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BLACK-BOX INTERFACE &amp; ENVIRONMENT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Signals &amp; Verification Topology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6949440" cy="347472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Signal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71600" y="9875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48840" y="9875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Width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9875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694944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13716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</a:rPr>
              <a:t>Input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48840" y="137160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1-bit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34640" y="137160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System clock — Fs = 491.52 MHz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709928"/>
            <a:ext cx="6949440" cy="32918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70992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rst_n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17099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</a:rPr>
              <a:t>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48840" y="170992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1-bit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34640" y="170992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Active-low synchronous reset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048256"/>
            <a:ext cx="694944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0482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frame_start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204825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</a:rPr>
              <a:t>Input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48840" y="204825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1-bit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Asserted for 1 cycle to begin a new TX frame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386584"/>
            <a:ext cx="6949440" cy="32918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23865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ofdm_sym[N]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23865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</a:rPr>
              <a:t>Input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48840" y="238658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Complex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34640" y="238658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256-QAM symbols for OFDM subcarriers (I/Q, WL=16)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724912"/>
            <a:ext cx="694944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72491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tx_out[15:0]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1600" y="272491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7A"/>
                </a:solidFill>
              </a:rPr>
              <a:t>Output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272491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16-bit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834640" y="27249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TX time-domain output — WL=16, FL=5 fixed-point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063240"/>
            <a:ext cx="6949440" cy="329184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30632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valid_out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71600" y="30632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7A"/>
                </a:solidFill>
              </a:rPr>
              <a:t>Output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48840" y="306324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1-bit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834640" y="306324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High when tx_out contains a valid output sample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60920" y="914400"/>
            <a:ext cx="1600200" cy="38404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60920" y="9601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A8E8"/>
                </a:solidFill>
              </a:rPr>
              <a:t>ENV TOPOLOGY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498080" y="1298448"/>
            <a:ext cx="1325880" cy="548640"/>
          </a:xfrm>
          <a:prstGeom prst="rect">
            <a:avLst/>
          </a:prstGeom>
          <a:solidFill>
            <a:srgbClr val="0F1E38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98080" y="129844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E8"/>
                </a:solidFill>
              </a:rPr>
              <a:t>Top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A8E8"/>
                </a:solidFill>
              </a:rPr>
              <a:t>(Active)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1993392"/>
            <a:ext cx="1325880" cy="548640"/>
          </a:xfrm>
          <a:prstGeom prst="rect">
            <a:avLst/>
          </a:prstGeom>
          <a:solidFill>
            <a:srgbClr val="0F1E38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98080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DDS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(Passive)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498080" y="2688336"/>
            <a:ext cx="1325880" cy="548640"/>
          </a:xfrm>
          <a:prstGeom prst="rect">
            <a:avLst/>
          </a:prstGeom>
          <a:solidFill>
            <a:srgbClr val="0F1E38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98080" y="268833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FFT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(Passive)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0" y="3383280"/>
            <a:ext cx="1325880" cy="548640"/>
          </a:xfrm>
          <a:prstGeom prst="rect">
            <a:avLst/>
          </a:prstGeom>
          <a:solidFill>
            <a:srgbClr val="0F1E38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98080" y="33832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IFFT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F0"/>
                </a:solidFill>
              </a:rPr>
              <a:t>(Passive)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88352" y="418795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3913632"/>
            <a:ext cx="6949440" cy="10241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395020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DUT: TX Wrapper (black-box)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7200" y="413308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Methodology: UVM single active agent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7200" y="431596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N = 4096 (Radix-2 FFT/IFFT)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7200" y="449884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256-QAM · 1500 active subcarriers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" y="468172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▸ Chirp BW: 200 MHz LFM · M_dds 10-bit</a:t>
            </a:r>
            <a:endParaRPr lang="en-US" sz="8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8C15ED3-73B6-EF1E-5659-D3CE7FCB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D5284F1-033E-C012-FFA1-CAE4B9C83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737" y="307867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AB1F9-0201-41F3-5915-30499306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088F3B-FB9F-DFD7-222E-B8D1747562E8}"/>
              </a:ext>
            </a:extLst>
          </p:cNvPr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BLACK-BOX INTERFACE &amp; ENVIRONMENT ARCHITECTURE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5EF821-2E49-D3FC-7DF3-15FB67812752}"/>
              </a:ext>
            </a:extLst>
          </p:cNvPr>
          <p:cNvSpPr/>
          <p:nvPr/>
        </p:nvSpPr>
        <p:spPr>
          <a:xfrm>
            <a:off x="320040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TX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chemeClr val="bg1"/>
                </a:solidFill>
              </a:rPr>
              <a:t>PATH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6A861F0-F7E7-D6A0-D786-F3BE36BDD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5760D7A-D10E-B71B-B724-F63378FEC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015" y="302179"/>
            <a:ext cx="1522605" cy="55139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5DD19633-D574-440D-8C29-91C1CFF75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97385"/>
            <a:ext cx="8229600" cy="2796778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984F0C88-D499-6B8C-2D61-4C5121924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902" y="1285058"/>
            <a:ext cx="504895" cy="304843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2E0AC397-6184-43D3-C5BB-0791476A2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317" y="3706020"/>
            <a:ext cx="504895" cy="304843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C84C3FF-436B-FD59-3074-2E2D276A5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941741"/>
            <a:ext cx="504895" cy="304843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5E6E317-6F08-8371-BFDB-6976C0CCE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150" y="1285058"/>
            <a:ext cx="709647" cy="304843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FAA8B6D1-9422-DF9A-F771-D52ED1B1A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873" y="2571750"/>
            <a:ext cx="504895" cy="15242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3DF51511-A5AA-BBE0-4DCC-0B910B4A86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8052" y="2571749"/>
            <a:ext cx="652498" cy="15242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CFF23BD6-580A-6698-79C0-86CE09204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2102" y="1752578"/>
            <a:ext cx="504895" cy="304843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94BFE0B-3A94-1082-00D4-CDDC9C44A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22784"/>
            <a:ext cx="504895" cy="2821432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5522FEA-A02F-4392-2C28-48FDC307E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95679"/>
            <a:ext cx="504895" cy="30484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17F923A7-A59E-50CF-2933-CB9CD678BF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203" y="1170362"/>
            <a:ext cx="504895" cy="304843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8DA627F1-C615-C169-ACD4-851F686B46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1" y="1285057"/>
            <a:ext cx="504895" cy="969193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62D36F7-B2D6-B5AA-8918-F36A687E6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903" y="1955831"/>
            <a:ext cx="614963" cy="152421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F98E00E4-EF79-F0FC-913D-BDB60715F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7352" y="3553598"/>
            <a:ext cx="1484348" cy="2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69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2E5ED-B9C9-F5B5-7A74-6736A57C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E1D187-3384-FFFC-9346-B9D18E12094E}"/>
              </a:ext>
            </a:extLst>
          </p:cNvPr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BLACK-BOX INTERFACE &amp; ENVIRONMENT ARCHITECTURE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C798FB-1217-CC5F-F6E6-FC2AAED95742}"/>
              </a:ext>
            </a:extLst>
          </p:cNvPr>
          <p:cNvSpPr/>
          <p:nvPr/>
        </p:nvSpPr>
        <p:spPr>
          <a:xfrm>
            <a:off x="320040" y="475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Signals &amp; Verification Topology</a:t>
            </a:r>
            <a:endParaRPr lang="en-US" sz="1800" dirty="0"/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1549815A-B25F-7CBA-3621-28FEE0E9E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26" y="996631"/>
            <a:ext cx="6581749" cy="3671381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BA405971-B7BB-E4D9-7C11-C4AD793227EA}"/>
              </a:ext>
            </a:extLst>
          </p:cNvPr>
          <p:cNvGrpSpPr/>
          <p:nvPr/>
        </p:nvGrpSpPr>
        <p:grpSpPr>
          <a:xfrm>
            <a:off x="7536909" y="4552303"/>
            <a:ext cx="398880" cy="32760"/>
            <a:chOff x="7536909" y="4552303"/>
            <a:chExt cx="398880" cy="3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A61EC53-B45C-F20A-3801-70D56A3D5BBF}"/>
                    </a:ext>
                  </a:extLst>
                </p14:cNvPr>
                <p14:cNvContentPartPr/>
                <p14:nvPr/>
              </p14:nvContentPartPr>
              <p14:xfrm>
                <a:off x="7536909" y="4584703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A61EC53-B45C-F20A-3801-70D56A3D5B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73909" y="452170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EC51F0B-D970-C6AF-FE95-E23CD7757D25}"/>
                    </a:ext>
                  </a:extLst>
                </p14:cNvPr>
                <p14:cNvContentPartPr/>
                <p14:nvPr/>
              </p14:nvContentPartPr>
              <p14:xfrm>
                <a:off x="7595949" y="4571743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EC51F0B-D970-C6AF-FE95-E23CD7757D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32949" y="450874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3B1A38C-2703-3F36-BF4D-CDC1BA9A5C05}"/>
                    </a:ext>
                  </a:extLst>
                </p14:cNvPr>
                <p14:cNvContentPartPr/>
                <p14:nvPr/>
              </p14:nvContentPartPr>
              <p14:xfrm>
                <a:off x="7674429" y="4552303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3B1A38C-2703-3F36-BF4D-CDC1BA9A5C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11429" y="448930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6608273-4C67-20CB-CF5E-F75BC82B016B}"/>
                    </a:ext>
                  </a:extLst>
                </p14:cNvPr>
                <p14:cNvContentPartPr/>
                <p14:nvPr/>
              </p14:nvContentPartPr>
              <p14:xfrm>
                <a:off x="7746069" y="4565263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6608273-4C67-20CB-CF5E-F75BC82B01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3069" y="45022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C12F937-F917-E382-2423-D5625A56CF4A}"/>
                    </a:ext>
                  </a:extLst>
                </p14:cNvPr>
                <p14:cNvContentPartPr/>
                <p14:nvPr/>
              </p14:nvContentPartPr>
              <p14:xfrm>
                <a:off x="7798269" y="4565263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C12F937-F917-E382-2423-D5625A56CF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35269" y="45022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EF7F6F-0300-134D-908F-78AC9B734EF6}"/>
                    </a:ext>
                  </a:extLst>
                </p14:cNvPr>
                <p14:cNvContentPartPr/>
                <p14:nvPr/>
              </p14:nvContentPartPr>
              <p14:xfrm>
                <a:off x="7896189" y="4565263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1EF7F6F-0300-134D-908F-78AC9B734E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33189" y="45022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08D1BDE-3345-0E76-5D58-E7EF76327777}"/>
                    </a:ext>
                  </a:extLst>
                </p14:cNvPr>
                <p14:cNvContentPartPr/>
                <p14:nvPr/>
              </p14:nvContentPartPr>
              <p14:xfrm>
                <a:off x="7935429" y="4571743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08D1BDE-3345-0E76-5D58-E7EF763277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72429" y="450874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E2C045B6-1B68-F213-1A5A-B428C4BD47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E0876B3-EC51-93BE-FAFB-6F5BF8AAC8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3015" y="302179"/>
            <a:ext cx="1522605" cy="55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0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0AB0F621-CF24-D69F-F90D-BD4BD50B9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8" y="79654"/>
            <a:ext cx="8935243" cy="49841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C062708-DBAE-768E-8521-47BC717C2D4C}"/>
                  </a:ext>
                </a:extLst>
              </p14:cNvPr>
              <p14:cNvContentPartPr/>
              <p14:nvPr/>
            </p14:nvContentPartPr>
            <p14:xfrm>
              <a:off x="8340429" y="4650223"/>
              <a:ext cx="98280" cy="46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C062708-DBAE-768E-8521-47BC717C2D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2789" y="4632583"/>
                <a:ext cx="133920" cy="8172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E4299954-9172-1C9E-F3F1-5CBEDDE82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9628" y="224875"/>
            <a:ext cx="1303842" cy="444644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2738449-7F80-C5D6-3E5E-2CEEB6C49C3F}"/>
              </a:ext>
            </a:extLst>
          </p:cNvPr>
          <p:cNvGrpSpPr/>
          <p:nvPr/>
        </p:nvGrpSpPr>
        <p:grpSpPr>
          <a:xfrm>
            <a:off x="8389380" y="4952640"/>
            <a:ext cx="541440" cy="30960"/>
            <a:chOff x="8389380" y="4952640"/>
            <a:chExt cx="541440" cy="3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49DF151-8907-9A8B-D076-CB46C481A092}"/>
                    </a:ext>
                  </a:extLst>
                </p14:cNvPr>
                <p14:cNvContentPartPr/>
                <p14:nvPr/>
              </p14:nvContentPartPr>
              <p14:xfrm>
                <a:off x="8389380" y="4952640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9DF151-8907-9A8B-D076-CB46C481A0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6740" y="48900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E89CEB-B0BC-3A46-5DF1-D3FC26458932}"/>
                    </a:ext>
                  </a:extLst>
                </p14:cNvPr>
                <p14:cNvContentPartPr/>
                <p14:nvPr/>
              </p14:nvContentPartPr>
              <p14:xfrm>
                <a:off x="8480820" y="498324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E89CEB-B0BC-3A46-5DF1-D3FC2645893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181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789E7E-23C3-1C08-A56E-66B054680A5E}"/>
                    </a:ext>
                  </a:extLst>
                </p14:cNvPr>
                <p14:cNvContentPartPr/>
                <p14:nvPr/>
              </p14:nvContentPartPr>
              <p14:xfrm>
                <a:off x="8549220" y="4983240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789E7E-23C3-1C08-A56E-66B054680A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865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FFC3751-ABBA-D6D5-88DB-B2F4B72B4DA0}"/>
                    </a:ext>
                  </a:extLst>
                </p14:cNvPr>
                <p14:cNvContentPartPr/>
                <p14:nvPr/>
              </p14:nvContentPartPr>
              <p14:xfrm>
                <a:off x="8610420" y="4983240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FFC3751-ABBA-D6D5-88DB-B2F4B72B4DA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477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F2A1DD-1FEE-F433-20D9-06977AAC456F}"/>
                    </a:ext>
                  </a:extLst>
                </p14:cNvPr>
                <p14:cNvContentPartPr/>
                <p14:nvPr/>
              </p14:nvContentPartPr>
              <p14:xfrm>
                <a:off x="8709420" y="4983240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F2A1DD-1FEE-F433-20D9-06977AAC45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467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028CEB6-0F49-69AB-C342-752A56F0CC30}"/>
                    </a:ext>
                  </a:extLst>
                </p14:cNvPr>
                <p14:cNvContentPartPr/>
                <p14:nvPr/>
              </p14:nvContentPartPr>
              <p14:xfrm>
                <a:off x="8778180" y="4983240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028CEB6-0F49-69AB-C342-752A56F0CC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15180" y="4920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37AB38F-C267-8FA0-11A4-06251B4808EB}"/>
                    </a:ext>
                  </a:extLst>
                </p14:cNvPr>
                <p14:cNvContentPartPr/>
                <p14:nvPr/>
              </p14:nvContentPartPr>
              <p14:xfrm>
                <a:off x="8854500" y="4960560"/>
                <a:ext cx="180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37AB38F-C267-8FA0-11A4-06251B4808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91500" y="4897560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3B7CD7-2F73-8165-F461-CD992C6FE80D}"/>
                    </a:ext>
                  </a:extLst>
                </p14:cNvPr>
                <p14:cNvContentPartPr/>
                <p14:nvPr/>
              </p14:nvContentPartPr>
              <p14:xfrm>
                <a:off x="8930460" y="496812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3B7CD7-2F73-8165-F461-CD992C6FE8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67460" y="49051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668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FEATURES TO BE VERIFIED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10896" y="390487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Observable Behaviour at tx_out / valid_out — No Internal Signals Referenced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65391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65391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2939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829399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Dual-Band TX Output Quality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094575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Model checking for both OFDM and chirp bands vs. python golden. Both bands present simultaneously in the same output frame.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765391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765391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82939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22392" y="829399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Word Format &amp; Overflow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094575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All samples within signed 16-bit range [−32768, +32767]. No wrap-around under any valid stimulus. Saturation replaces wrap.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3354" y="1884823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3354" y="1884823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0514" y="1948831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6586" y="1948831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Behaviour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0514" y="2214007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rst_n forces tx_out = 0 and valid_out = 0. First complete frame post-reset achieves zero error. No residual state corruption.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1862671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862671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92667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22392" y="1926679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Sample Count &amp; Timing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91855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Exactly N=4096 valid_out cycles per frame. Pipeline latency is fixed and constant across all frames (deterministic).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3354" y="2998846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3354" y="2998846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0514" y="306285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6586" y="306285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Determinism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0514" y="332803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Bit-exact identical tx_out for identical (M_dds, ofdm_sym, frame_start) inputs across every simulation run and seed.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959951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959951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02395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22392" y="3023959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Frame Boundary Integrity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289135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Last sample of frame N not corrupted by frame N+1 stimulus. Long idle gaps do not corrupt subsequent frames.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4078224"/>
            <a:ext cx="42519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078224"/>
            <a:ext cx="73152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14223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87552" y="41422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Chirp-Only and OFDM-Only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40740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Single-band:  Null frame: all 4096 samples = 0x0000.</a:t>
            </a:r>
            <a:endParaRPr lang="en-US" sz="8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D11F116-9D44-16AD-E436-EC889E316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306" y="168275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TEST PLAN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14 Black-Box Test Cases — Golden Reference: SYSTEM_builtin.m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8631936" cy="301752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Name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0" y="96012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Feature(s)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92240" y="960120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298448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984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2984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Null Frame — All Zeros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0640" y="12984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92240" y="12984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A — Null &amp; Boundary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6032" y="1563624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5636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1563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Chirp-Only — Zero OFDM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20640" y="15636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F-01,F-07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92240" y="15636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A — Null &amp; Boundary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1828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1828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OFDM-Only — Zero Chirp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20640" y="1828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F-01,F-07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A — Null &amp; Boundary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2093976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20939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0" y="20939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Constant M_dds — Single Chirp Tone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0" y="20939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F-01,F-02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92240" y="209397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B — Single-Band Operation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2359152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3591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14400" y="23591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Full M_dds Sweep — 0 to 1023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20640" y="2359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23591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B — Single-Band Operation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2624328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2624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4400" y="26243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Output Word Format — Normal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20640" y="2624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92240" y="2624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C — Word Format &amp; Overflow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2889504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28895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4400" y="28895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Overflow / Saturation Behaviour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20640" y="28895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92240" y="28895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C — Word Format &amp; Overflow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3154680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" y="31546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14400" y="3154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valid_out Gating Verification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20640" y="3154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92240" y="31546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C — Word Format &amp; Overflow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3419856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040" y="3419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TC-009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4400" y="34198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Reset Before Frame Start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20640" y="34198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92240" y="34198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F — Reset &amp; Control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6032" y="3685032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0040" y="36850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14400" y="3685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Reset Mid-Frame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120640" y="3685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492240" y="36850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F — Reset &amp; Control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56032" y="3950208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0040" y="39502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14400" y="39502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Multiple Consecutive Resets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120640" y="39502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F-03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92240" y="3950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F — Reset &amp; Control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" y="4215384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20040" y="42153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14400" y="42153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Back-to-Back 20 Frames — No Gaps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120640" y="42153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92240" y="42153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H — Regression &amp; Stress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56032" y="4480560"/>
            <a:ext cx="8631936" cy="2560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20040" y="4480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TC-013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14400" y="4480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Long Gap Between Frames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120640" y="4480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F-06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92240" y="44805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H — Regression &amp; Stress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56032" y="4745736"/>
            <a:ext cx="8631936" cy="256032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0040" y="47457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TC-014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14400" y="4745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100 Random Frames — Full Regression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120640" y="47457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F-01,F-02,F-06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492240" y="47457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H — Regression &amp; Stress</a:t>
            </a:r>
            <a:endParaRPr lang="en-US" sz="75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4F702ACB-6B87-91BA-A1FA-C73C5B540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9F27B1A-9C55-0E41-9DC1-1F93420BE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102" y="271564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E8"/>
                </a:solidFill>
              </a:rPr>
              <a:t>TEST CASES: GROUP A — NULL &amp; BOUNDARY  /  GROUP B — SINGLE-BAND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TC-001 through TC-005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315968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8992" y="96012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Null Frame — All Zeros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99669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7472" y="143560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Set </a:t>
            </a:r>
            <a:r>
              <a:rPr lang="en-US" sz="750" dirty="0" err="1">
                <a:solidFill>
                  <a:srgbClr val="C8D8F0"/>
                </a:solidFill>
              </a:rPr>
              <a:t>M_dds</a:t>
            </a:r>
            <a:r>
              <a:rPr lang="en-US" sz="750" dirty="0">
                <a:solidFill>
                  <a:srgbClr val="C8D8F0"/>
                </a:solidFill>
              </a:rPr>
              <a:t> = 0 for all samples, </a:t>
            </a:r>
            <a:r>
              <a:rPr lang="en-US" sz="750" dirty="0" err="1">
                <a:solidFill>
                  <a:srgbClr val="C8D8F0"/>
                </a:solidFill>
              </a:rPr>
              <a:t>ofdm_sym</a:t>
            </a:r>
            <a:r>
              <a:rPr lang="en-US" sz="750" dirty="0">
                <a:solidFill>
                  <a:srgbClr val="C8D8F0"/>
                </a:solidFill>
              </a:rPr>
              <a:t> = 0 for all subcarriers. Assert </a:t>
            </a:r>
            <a:r>
              <a:rPr lang="en-US" sz="750" dirty="0" err="1">
                <a:solidFill>
                  <a:srgbClr val="C8D8F0"/>
                </a:solidFill>
              </a:rPr>
              <a:t>frame_start</a:t>
            </a:r>
            <a:r>
              <a:rPr lang="en-US" sz="750" dirty="0">
                <a:solidFill>
                  <a:srgbClr val="C8D8F0"/>
                </a:solidFill>
              </a:rPr>
              <a:t>, capture one full frame.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17282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7472" y="1865376"/>
            <a:ext cx="4133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i="1" dirty="0">
                <a:solidFill>
                  <a:srgbClr val="00C97A"/>
                </a:solidFill>
              </a:rPr>
              <a:t>PASS: All samples = 0 AND valid_out count = 4096 → PASS; any non-zero sample → FAIL</a:t>
            </a:r>
            <a:endParaRPr lang="en-US" sz="750" b="1" dirty="0"/>
          </a:p>
        </p:txBody>
      </p:sp>
      <p:sp>
        <p:nvSpPr>
          <p:cNvPr id="13" name="Shape 11"/>
          <p:cNvSpPr/>
          <p:nvPr/>
        </p:nvSpPr>
        <p:spPr>
          <a:xfrm>
            <a:off x="4700016" y="96012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0016" y="960120"/>
            <a:ext cx="4315968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91456" y="9601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22976" y="96012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Chirp-Only — Zero OFDM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30184" y="99669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F-01, F-07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91456" y="129844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91456" y="143560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Apply full M_dds sweep (0→1023 over 4096 samples). Set all ofdm_sym = 0.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91456" y="17282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87074" y="178308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i="1" dirty="0">
                <a:solidFill>
                  <a:srgbClr val="00C97A"/>
                </a:solidFill>
              </a:rPr>
              <a:t>PASS: All 4096 </a:t>
            </a:r>
            <a:r>
              <a:rPr lang="en-US" sz="750" b="1" i="1" dirty="0" err="1">
                <a:solidFill>
                  <a:srgbClr val="00C97A"/>
                </a:solidFill>
              </a:rPr>
              <a:t>dut_tx_out</a:t>
            </a:r>
            <a:r>
              <a:rPr lang="en-US" sz="750" b="1" i="1" dirty="0">
                <a:solidFill>
                  <a:srgbClr val="00C97A"/>
                </a:solidFill>
              </a:rPr>
              <a:t> samples perfectly match </a:t>
            </a:r>
            <a:r>
              <a:rPr lang="en-US" sz="750" b="1" i="1" dirty="0" err="1">
                <a:solidFill>
                  <a:srgbClr val="00C97A"/>
                </a:solidFill>
              </a:rPr>
              <a:t>python_ref_tx_out</a:t>
            </a:r>
            <a:r>
              <a:rPr lang="en-US" sz="750" b="1" i="1" dirty="0">
                <a:solidFill>
                  <a:srgbClr val="00C97A"/>
                </a:solidFill>
              </a:rPr>
              <a:t> (Error = 0).</a:t>
            </a:r>
          </a:p>
        </p:txBody>
      </p:sp>
      <p:sp>
        <p:nvSpPr>
          <p:cNvPr id="22" name="Shape 20"/>
          <p:cNvSpPr/>
          <p:nvPr/>
        </p:nvSpPr>
        <p:spPr>
          <a:xfrm>
            <a:off x="256032" y="228600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2286000"/>
            <a:ext cx="4315968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22860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8992" y="228600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OFDM-Only — Zero Chirp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86200" y="23225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F-01, F-07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7472" y="262432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7472" y="276148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Set M_dds = 0 (no chirp). Apply 1500 random 256-QAM symbols.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305409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56806" y="3099816"/>
            <a:ext cx="4178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i="1" dirty="0">
                <a:solidFill>
                  <a:srgbClr val="00C97A"/>
                </a:solidFill>
              </a:rPr>
              <a:t>PASS: Bit-exact match between </a:t>
            </a:r>
            <a:r>
              <a:rPr lang="en-US" sz="750" b="1" i="1" dirty="0" err="1">
                <a:solidFill>
                  <a:srgbClr val="00C97A"/>
                </a:solidFill>
              </a:rPr>
              <a:t>dut_tx_out</a:t>
            </a:r>
            <a:r>
              <a:rPr lang="en-US" sz="750" b="1" i="1" dirty="0">
                <a:solidFill>
                  <a:srgbClr val="00C97A"/>
                </a:solidFill>
              </a:rPr>
              <a:t> and </a:t>
            </a:r>
            <a:r>
              <a:rPr lang="en-US" sz="750" b="1" i="1" dirty="0" err="1">
                <a:solidFill>
                  <a:srgbClr val="00C97A"/>
                </a:solidFill>
              </a:rPr>
              <a:t>python_ref_tx_out</a:t>
            </a:r>
            <a:r>
              <a:rPr lang="en-US" sz="750" b="1" i="1" dirty="0">
                <a:solidFill>
                  <a:srgbClr val="00C97A"/>
                </a:solidFill>
              </a:rPr>
              <a:t> (Error = 0).</a:t>
            </a:r>
          </a:p>
        </p:txBody>
      </p:sp>
      <p:sp>
        <p:nvSpPr>
          <p:cNvPr id="31" name="Shape 29"/>
          <p:cNvSpPr/>
          <p:nvPr/>
        </p:nvSpPr>
        <p:spPr>
          <a:xfrm>
            <a:off x="4700016" y="228600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0016" y="2286000"/>
            <a:ext cx="4315968" cy="292608"/>
          </a:xfrm>
          <a:prstGeom prst="rect">
            <a:avLst/>
          </a:prstGeom>
          <a:solidFill>
            <a:srgbClr val="1A5A4A"/>
          </a:solidFill>
          <a:ln w="12700">
            <a:solidFill>
              <a:srgbClr val="1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91456" y="22860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22976" y="228600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Constant M_dds — Single Chirp Tone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30184" y="23225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F-01, F-02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91456" y="262432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91456" y="276148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Hold M_dds = 512 (constant, ~100 MHz) for all 4096 samples. Apply zero OFDM. Take FFT of tx_out.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91456" y="305409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91456" y="3023616"/>
            <a:ext cx="4133088" cy="586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i="1" dirty="0">
                <a:solidFill>
                  <a:srgbClr val="00C97A"/>
                </a:solidFill>
              </a:rPr>
              <a:t>PASS: Bit-exact match between </a:t>
            </a:r>
            <a:r>
              <a:rPr lang="en-US" sz="750" b="1" i="1" dirty="0" err="1">
                <a:solidFill>
                  <a:srgbClr val="00C97A"/>
                </a:solidFill>
              </a:rPr>
              <a:t>dut_tx_out</a:t>
            </a:r>
            <a:r>
              <a:rPr lang="en-US" sz="750" b="1" i="1" dirty="0">
                <a:solidFill>
                  <a:srgbClr val="00C97A"/>
                </a:solidFill>
              </a:rPr>
              <a:t> and </a:t>
            </a:r>
            <a:r>
              <a:rPr lang="en-US" sz="750" b="1" i="1" dirty="0" err="1">
                <a:solidFill>
                  <a:srgbClr val="00C97A"/>
                </a:solidFill>
              </a:rPr>
              <a:t>python_ref_tx_out</a:t>
            </a:r>
            <a:r>
              <a:rPr lang="en-US" sz="750" b="1" i="1" dirty="0">
                <a:solidFill>
                  <a:srgbClr val="00C97A"/>
                </a:solidFill>
              </a:rPr>
              <a:t> (Error = 0).</a:t>
            </a:r>
          </a:p>
        </p:txBody>
      </p:sp>
      <p:sp>
        <p:nvSpPr>
          <p:cNvPr id="40" name="Shape 38"/>
          <p:cNvSpPr/>
          <p:nvPr/>
        </p:nvSpPr>
        <p:spPr>
          <a:xfrm>
            <a:off x="256032" y="3611880"/>
            <a:ext cx="4315968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6032" y="3611880"/>
            <a:ext cx="4315968" cy="292608"/>
          </a:xfrm>
          <a:prstGeom prst="rect">
            <a:avLst/>
          </a:prstGeom>
          <a:solidFill>
            <a:srgbClr val="1A5A4A"/>
          </a:solidFill>
          <a:ln w="12700">
            <a:solidFill>
              <a:srgbClr val="1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36118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78992" y="361188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 M_dds Sweep — 0 to 1023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86200" y="364845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B300"/>
                </a:solidFill>
              </a:rPr>
              <a:t>Feat: F-01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47472" y="395020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STIMULUS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47472" y="4087368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8F0"/>
                </a:solidFill>
              </a:rPr>
              <a:t>Apply M_dds linearly from 0 to 1023 across 4096 samples (full chirp sweep). Zero OFDM.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7472" y="43799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9BB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7472" y="4590288"/>
            <a:ext cx="4133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i="1" dirty="0">
                <a:solidFill>
                  <a:srgbClr val="00C97A"/>
                </a:solidFill>
              </a:rPr>
              <a:t>PASS: Bit-exact match between </a:t>
            </a:r>
            <a:r>
              <a:rPr lang="en-US" sz="750" b="1" i="1" dirty="0" err="1">
                <a:solidFill>
                  <a:srgbClr val="00C97A"/>
                </a:solidFill>
              </a:rPr>
              <a:t>dut_tx_out</a:t>
            </a:r>
            <a:r>
              <a:rPr lang="en-US" sz="750" b="1" i="1" dirty="0">
                <a:solidFill>
                  <a:srgbClr val="00C97A"/>
                </a:solidFill>
              </a:rPr>
              <a:t> and </a:t>
            </a:r>
            <a:r>
              <a:rPr lang="en-US" sz="750" b="1" i="1" dirty="0" err="1">
                <a:solidFill>
                  <a:srgbClr val="00C97A"/>
                </a:solidFill>
              </a:rPr>
              <a:t>python_ref_tx_out</a:t>
            </a:r>
            <a:r>
              <a:rPr lang="en-US" sz="750" b="1" i="1" dirty="0">
                <a:solidFill>
                  <a:srgbClr val="00C97A"/>
                </a:solidFill>
              </a:rPr>
              <a:t> (Error = 0).</a:t>
            </a:r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49" name="Rectangle 1">
            <a:extLst>
              <a:ext uri="{FF2B5EF4-FFF2-40B4-BE49-F238E27FC236}">
                <a16:creationId xmlns:a16="http://schemas.microsoft.com/office/drawing/2014/main" id="{84427BB3-4F08-25ED-FFE8-E4F672E71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4096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tx_out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samples are exactly 0 (Error = 0).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F32E4E9-E24C-AC19-2D4E-D9C7AA2E1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1FAAF0F-D677-F261-F782-5D818363D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161" y="29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E8"/>
                </a:solidFill>
              </a:rPr>
              <a:t>TEST CASES: GROUP C — WORD FORMAT &amp; OVERFLOW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TC-006 through TC-008  |  F-02, F-04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301752"/>
          </a:xfrm>
          <a:prstGeom prst="rect">
            <a:avLst/>
          </a:prstGeom>
          <a:solidFill>
            <a:srgbClr val="4A3A1A"/>
          </a:solidFill>
          <a:ln w="12700">
            <a:solidFill>
              <a:srgbClr val="4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73152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241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3000" y="102412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Word Format — Normal Operation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103327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2336" y="135331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353312"/>
            <a:ext cx="75895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Dual-band nominal stimulus. Inspect all 4096 tx_out samples for correct signed 16-bit fixed-point format (WL=16, FL=5).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34440" y="1572768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All samples within [−32768, +32767]. No sample equals −32768 unless saturation is explicitly expected.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1810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C97A"/>
                </a:solidFill>
              </a:rPr>
              <a:t>PASS: All samples in valid signed range → PASS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1810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ℹ Format check: signed 16-bit two's complement, FL=5 fractional bits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286000"/>
            <a:ext cx="8631936" cy="301752"/>
          </a:xfrm>
          <a:prstGeom prst="rect">
            <a:avLst/>
          </a:prstGeom>
          <a:solidFill>
            <a:srgbClr val="4A3A1A"/>
          </a:solidFill>
          <a:ln w="12700">
            <a:solidFill>
              <a:srgbClr val="4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73152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232257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232257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Overflow / Saturation Behaviour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233172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2336" y="26517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651760"/>
            <a:ext cx="75895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Drive worst-case maximum-amplitude stimulus: max M_dds + all OFDM corner symbols simultaneously.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2336" y="28712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34440" y="2871216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If any sample hits ±32767, the next sample must NOT jump to the opposite extreme (no wrap-around). EVM not required for saturation edge.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2336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C97A"/>
                </a:solidFill>
              </a:rPr>
              <a:t>PASS: No wrap-around on any sample → PASS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ℹ Saturate-don't-wrap: verify sign does not invert at peak amplitude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3584448"/>
            <a:ext cx="8631936" cy="301752"/>
          </a:xfrm>
          <a:prstGeom prst="rect">
            <a:avLst/>
          </a:prstGeom>
          <a:solidFill>
            <a:srgbClr val="4A3A1A"/>
          </a:solidFill>
          <a:ln w="12700">
            <a:solidFill>
              <a:srgbClr val="4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3584448"/>
            <a:ext cx="73152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36210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3000" y="362102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valid_out Gating Verification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363016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2336" y="395020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88720" y="3950208"/>
            <a:ext cx="75895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Send one frame. Observe valid_out timing relative to frame_start. Verify valid_out is LOW between frames and during pipeline latency.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" y="4169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34440" y="4169664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valid_out = 1 for exactly 4096 consecutive cycles per frame. valid_out = 0 between frames.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02336" y="44074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C97A"/>
                </a:solidFill>
              </a:rPr>
              <a:t>PASS: </a:t>
            </a:r>
            <a:r>
              <a:rPr lang="en-US" sz="900" b="1" i="1" dirty="0" err="1">
                <a:solidFill>
                  <a:srgbClr val="00C97A"/>
                </a:solidFill>
              </a:rPr>
              <a:t>valid_out</a:t>
            </a:r>
            <a:r>
              <a:rPr lang="en-US" sz="900" b="1" i="1" dirty="0">
                <a:solidFill>
                  <a:srgbClr val="00C97A"/>
                </a:solidFill>
              </a:rPr>
              <a:t> count = 4096 AND valid_out = 0 between frames → PASS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32120" y="4407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ℹ Pipeline latency L must remain constant (ASS-05 deterministic latency)</a:t>
            </a:r>
            <a:endParaRPr lang="en-US" sz="7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678A8DB-CAB2-78B5-BEBF-D9F38BE39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1E21582-4191-347B-1BAD-04EA33C71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E8"/>
                </a:solidFill>
              </a:rPr>
              <a:t>TEST CASES: GROUP F — RESET &amp; CONTROL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TC-009 through TC-011  |  F-03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301752"/>
          </a:xfrm>
          <a:prstGeom prst="rect">
            <a:avLst/>
          </a:prstGeom>
          <a:solidFill>
            <a:srgbClr val="4A1A3A"/>
          </a:solidFill>
          <a:ln w="12700">
            <a:solidFill>
              <a:srgbClr val="4A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73152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241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3000" y="102412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Before Frame Start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103327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2336" y="135331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35331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Assert rst_n = 0 for 10 cycles, then release. Immediately send a full frame. Capture tx_out and compute EVM.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34440" y="1572768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tx_out = 0 during reset assertion. EVM &lt; 3% for the first post-reset frame.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1792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 : </a:t>
            </a:r>
            <a:r>
              <a:rPr lang="en-US" sz="900" b="1" i="1" dirty="0" err="1">
                <a:solidFill>
                  <a:srgbClr val="00C97A"/>
                </a:solidFill>
              </a:rPr>
              <a:t>tx_out</a:t>
            </a:r>
            <a:r>
              <a:rPr lang="en-US" sz="900" b="1" i="1" dirty="0">
                <a:solidFill>
                  <a:srgbClr val="00C97A"/>
                </a:solidFill>
              </a:rPr>
              <a:t> is 0 during reset, and the subsequent frame exactly matches Python (Error = 0).</a:t>
            </a:r>
          </a:p>
        </p:txBody>
      </p:sp>
      <p:sp>
        <p:nvSpPr>
          <p:cNvPr id="15" name="Shape 13"/>
          <p:cNvSpPr/>
          <p:nvPr/>
        </p:nvSpPr>
        <p:spPr>
          <a:xfrm>
            <a:off x="256032" y="2286000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8631936" cy="301752"/>
          </a:xfrm>
          <a:prstGeom prst="rect">
            <a:avLst/>
          </a:prstGeom>
          <a:solidFill>
            <a:srgbClr val="4A1A3A"/>
          </a:solidFill>
          <a:ln w="12700">
            <a:solidFill>
              <a:srgbClr val="4A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286000"/>
            <a:ext cx="73152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32257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3000" y="232257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Mid-Frame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233172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" y="26517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8720" y="26517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Start a frame. Assert rst_n = 0 after exactly 2048 samples (mid-frame). Release reset. Send a new complete frame.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8712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34440" y="2871216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tx_out goes to 0 immediately on reset assertion. New full-frame EVM &lt; 3%.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 Immediate 0 on reset, and the new frame exactly matches the Python reference (Error = 0).</a:t>
            </a:r>
          </a:p>
        </p:txBody>
      </p:sp>
      <p:sp>
        <p:nvSpPr>
          <p:cNvPr id="26" name="Shape 24"/>
          <p:cNvSpPr/>
          <p:nvPr/>
        </p:nvSpPr>
        <p:spPr>
          <a:xfrm>
            <a:off x="256032" y="3584448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3584448"/>
            <a:ext cx="8631936" cy="301752"/>
          </a:xfrm>
          <a:prstGeom prst="rect">
            <a:avLst/>
          </a:prstGeom>
          <a:solidFill>
            <a:srgbClr val="4A1A3A"/>
          </a:solidFill>
          <a:ln w="12700">
            <a:solidFill>
              <a:srgbClr val="4A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73152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" y="36210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43000" y="362102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Multiple Consecutive Resets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363016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</a:rPr>
              <a:t>Feat: F-03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" y="395020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88720" y="395020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Assert and release rst_n 5 times consecutively with no frames in between. Then send a frame. Compute EVM.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2336" y="4169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34440" y="4169664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EVM &lt; 3%. No accumulated state from repeated resets corrupts the output.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8272" y="4443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</a:t>
            </a:r>
            <a:r>
              <a:rPr lang="en-US" sz="900" b="1" dirty="0"/>
              <a:t>:</a:t>
            </a:r>
            <a:r>
              <a:rPr lang="en-US" sz="900" dirty="0"/>
              <a:t> </a:t>
            </a:r>
            <a:r>
              <a:rPr lang="en-US" sz="900" b="1" i="1" dirty="0">
                <a:solidFill>
                  <a:srgbClr val="00C97A"/>
                </a:solidFill>
              </a:rPr>
              <a:t>No latent pipeline corruption; output exactly matches the Python reference (Error = 0).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solidFill>
            <a:srgbClr val="0F1E38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B300"/>
                </a:solidFill>
              </a:rPr>
              <a:t>SVA Reference — ASS-01: rst_n == 0 |-&gt; tx_out == 0 &amp;&amp; valid_out == 0 (all cycles)  |  ASS-04: tx_out stable at 0 throughout rst_n assertion</a:t>
            </a:r>
            <a:endParaRPr lang="en-US" sz="7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8CA4042-E703-5E10-0DAE-ECE8391DB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FD72152-BABE-E9FC-E425-4AF9BE99A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A8E8"/>
                </a:solidFill>
              </a:rPr>
              <a:t>TEST CASES: GROUP H — REGRESSION &amp; STRESS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TC-012 through TC-014  |  F-01, F-02, F-06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301752"/>
          </a:xfrm>
          <a:prstGeom prst="rect">
            <a:avLst/>
          </a:prstGeom>
          <a:solidFill>
            <a:srgbClr val="2A1A5A"/>
          </a:solidFill>
          <a:ln w="12700">
            <a:solidFill>
              <a:srgbClr val="2A1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73152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0241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3000" y="10241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Back-to-Back 20 Frames — No Gaps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1033272"/>
            <a:ext cx="1463040" cy="210312"/>
          </a:xfrm>
          <a:prstGeom prst="rect">
            <a:avLst/>
          </a:prstGeom>
          <a:solidFill>
            <a:srgbClr val="FFB300">
              <a:alpha val="30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1033272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B300"/>
                </a:solidFill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2336" y="135331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135331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Transmit 20 consecutive frames with zero idle cycles between them. Each frame uses a different random OFDM seed.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1572768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EVM &lt; 3% for every one of the 20 frames. No inter-frame contamination observable at tx_out.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1810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 0 errors across all 20 frames compared to the fixed-point Python model.</a:t>
            </a:r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286000"/>
            <a:ext cx="8631936" cy="301752"/>
          </a:xfrm>
          <a:prstGeom prst="rect">
            <a:avLst/>
          </a:prstGeom>
          <a:solidFill>
            <a:srgbClr val="2A1A5A"/>
          </a:solidFill>
          <a:ln w="12700">
            <a:solidFill>
              <a:srgbClr val="2A1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73152" cy="1207008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232257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23225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Long Gap Between Frames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2331720"/>
            <a:ext cx="1463040" cy="210312"/>
          </a:xfrm>
          <a:prstGeom prst="rect">
            <a:avLst/>
          </a:prstGeom>
          <a:solidFill>
            <a:srgbClr val="00C97A">
              <a:alpha val="30000"/>
            </a:srgbClr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2331720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97A"/>
                </a:solidFill>
              </a:rPr>
              <a:t>MED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02336" y="26517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26517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Send frame 1. Insert 10,000 idle cycles (no frame_start). Send frame 2 with different stimulus.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28712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34440" y="2871216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Frame 2 EVM &lt; 3%. No stale pipeline state from frame 1 corrupts frame 2.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 Frame 2 outputs exactly match the Python reference (Error = 0).</a:t>
            </a:r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8631936" cy="12070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3584448"/>
            <a:ext cx="8631936" cy="301752"/>
          </a:xfrm>
          <a:prstGeom prst="rect">
            <a:avLst/>
          </a:prstGeom>
          <a:solidFill>
            <a:srgbClr val="2A1A5A"/>
          </a:solidFill>
          <a:ln w="12700">
            <a:solidFill>
              <a:srgbClr val="2A1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3584448"/>
            <a:ext cx="73152" cy="12070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36210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TC-014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3000" y="362102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100 Random Frames — Full Regression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3630168"/>
            <a:ext cx="1463040" cy="210312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0" y="3630168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4757"/>
                </a:solidFill>
              </a:rPr>
              <a:t>CRITICAL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2336" y="395020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STIMULUS: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88720" y="395020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F0"/>
                </a:solidFill>
              </a:rPr>
              <a:t>Run 100 frames with fully constrained-random M_dds sequences and 256-QAM symbol sets (unique seed per frame).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" y="4169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</a:rPr>
              <a:t>EXPECTED: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234440" y="4169664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EVM &lt; 3% for all 100 frames, both chirp and OFDM bands independently.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02336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i="1" dirty="0">
                <a:solidFill>
                  <a:srgbClr val="00C97A"/>
                </a:solidFill>
              </a:rPr>
              <a:t>PASS: 0 total mismatch errors across all 409,600 generated samples against the Python model.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425D7DB-1F69-F43B-C753-A594A551F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B299F2-432B-F6F1-0B91-7E1545BA6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COVERAGE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Code Coverage Targets &amp; Functional Coverage Groups</a:t>
            </a:r>
            <a:endParaRPr lang="en-US" sz="1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0C83E3-822F-CDE3-9488-D297D27D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80"/>
          <a:stretch>
            <a:fillRect/>
          </a:stretch>
        </p:blipFill>
        <p:spPr>
          <a:xfrm>
            <a:off x="1234440" y="935992"/>
            <a:ext cx="7169331" cy="3732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A5DC1E-9006-4401-7EB1-5A48EB97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119" y="313762"/>
            <a:ext cx="1303842" cy="44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5CBA4-4B1D-1769-7C26-9E1C276E5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E8"/>
                </a:solidFill>
              </a:rPr>
              <a:t>SVA ASSERTIONS &amp; VERIFICATION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Output-Port SVA Assertions + Phase Roadmap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9684" y="1389888"/>
            <a:ext cx="8631936" cy="274320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24" y="1389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VERIFICATION ROADMAP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9684" y="1709928"/>
            <a:ext cx="2743200" cy="1600200"/>
          </a:xfrm>
          <a:prstGeom prst="rect">
            <a:avLst/>
          </a:prstGeom>
          <a:solidFill>
            <a:srgbClr val="112244"/>
          </a:solidFill>
          <a:ln w="254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69684" y="1709928"/>
            <a:ext cx="274320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1124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(Current)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1124" y="21214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E8"/>
                </a:solidFill>
              </a:rPr>
              <a:t>TX Path Verification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9412" y="2432304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Black-box TX wrapper · 14 test cases · Single active agent · EVM &lt; 3% vs MATLAB golden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77476" y="1709928"/>
            <a:ext cx="2743200" cy="1600200"/>
          </a:xfrm>
          <a:prstGeom prst="rect">
            <a:avLst/>
          </a:prstGeom>
          <a:solidFill>
            <a:srgbClr val="112244"/>
          </a:solidFill>
          <a:ln w="254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77476" y="1709928"/>
            <a:ext cx="2743200" cy="34747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68916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(Next)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68916" y="21214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7A"/>
                </a:solidFill>
              </a:rPr>
              <a:t>RX Path Verification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87204" y="2432304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Replicate hierarchical strategy for RX: inject into RX IFFT, verify Equalizer, Multiplier, RX FFT. Validate radar + comms detection.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5268" y="1709928"/>
            <a:ext cx="2743200" cy="1600200"/>
          </a:xfrm>
          <a:prstGeom prst="rect">
            <a:avLst/>
          </a:prstGeom>
          <a:solidFill>
            <a:srgbClr val="112244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85268" y="1709928"/>
            <a:ext cx="27432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76708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 (Final)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6708" y="21214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</a:rPr>
              <a:t>Top-Level Integration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4996" y="2432304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F0"/>
                </a:solidFill>
              </a:rPr>
              <a:t>Merge TX+RX environments. Loop TX output → RX input (simulating analog/channel). Full end-to-end regression tests.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643884"/>
            <a:ext cx="8631936" cy="228600"/>
          </a:xfrm>
          <a:prstGeom prst="rect">
            <a:avLst/>
          </a:prstGeom>
          <a:solidFill>
            <a:srgbClr val="0F1E38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36438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B300"/>
                </a:solidFill>
              </a:rPr>
              <a:t>⚠  Pending RTL Clarifications: (1) Control plane: APB CSR vs. direct hardware ports  (2) Data plane: AXI4-Stream vs. custom valid/data for streaming OFDM input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DEB523-0DDC-DDAE-5C2B-B30A2EB9D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017" y="245510"/>
            <a:ext cx="1522605" cy="5513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1933</Words>
  <Application>Microsoft Office PowerPoint</Application>
  <PresentationFormat>On-screen Show (16:9)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Unicode MS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 Path Verification Plan v2 — 14 Test Cases</dc:title>
  <dc:subject>PptxGenJS Presentation</dc:subject>
  <dc:creator>PptxGenJS</dc:creator>
  <cp:lastModifiedBy>Ahmed Hossam rafik algamal 2101209</cp:lastModifiedBy>
  <cp:revision>7</cp:revision>
  <dcterms:created xsi:type="dcterms:W3CDTF">2026-04-21T19:42:08Z</dcterms:created>
  <dcterms:modified xsi:type="dcterms:W3CDTF">2026-04-21T22:19:24Z</dcterms:modified>
</cp:coreProperties>
</file>