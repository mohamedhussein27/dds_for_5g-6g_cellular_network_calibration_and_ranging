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2" r:id="rId2"/>
    <p:sldId id="257" r:id="rId3"/>
    <p:sldId id="258" r:id="rId4"/>
    <p:sldId id="269" r:id="rId5"/>
    <p:sldId id="271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3644"/>
    <a:srgbClr val="4FC3F7"/>
    <a:srgbClr val="2D6895"/>
    <a:srgbClr val="0A1E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369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07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41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889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0F1E38"/>
          </a:solidFill>
          <a:ln w="12700">
            <a:solidFill>
              <a:srgbClr val="0F1E38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0206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0" y="91440"/>
            <a:ext cx="2926080" cy="2926080"/>
          </a:xfrm>
          <a:prstGeom prst="ellipse">
            <a:avLst/>
          </a:prstGeom>
          <a:solidFill>
            <a:srgbClr val="0066AA">
              <a:alpha val="15000"/>
            </a:srgbClr>
          </a:solidFill>
          <a:ln w="12700">
            <a:solidFill>
              <a:srgbClr val="0066A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457200"/>
            <a:ext cx="1828800" cy="1828800"/>
          </a:xfrm>
          <a:prstGeom prst="ellipse">
            <a:avLst/>
          </a:prstGeom>
          <a:solidFill>
            <a:srgbClr val="00A8E8">
              <a:alpha val="20000"/>
            </a:srgbClr>
          </a:solidFill>
          <a:ln w="12700">
            <a:solidFill>
              <a:srgbClr val="00A8E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162685" y="843180"/>
            <a:ext cx="481863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kern="0" spc="300" dirty="0">
                <a:solidFill>
                  <a:srgbClr val="00A8E8"/>
                </a:solidFill>
              </a:rPr>
              <a:t>RX PATH VERIFICATION PLAN</a:t>
            </a:r>
            <a:endParaRPr lang="en-US" sz="2400" dirty="0"/>
          </a:p>
        </p:txBody>
      </p:sp>
      <p:sp>
        <p:nvSpPr>
          <p:cNvPr id="34" name="Text 4"/>
          <p:cNvSpPr/>
          <p:nvPr/>
        </p:nvSpPr>
        <p:spPr>
          <a:xfrm>
            <a:off x="382761" y="2097840"/>
            <a:ext cx="4817889" cy="2452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kern="0" spc="300" dirty="0">
                <a:solidFill>
                  <a:srgbClr val="0070C0"/>
                </a:solidFill>
              </a:rPr>
              <a:t>Prepared by:</a:t>
            </a:r>
          </a:p>
          <a:p>
            <a:r>
              <a:rPr lang="en-US" sz="1500" b="1" kern="0" spc="300" dirty="0">
                <a:solidFill>
                  <a:srgbClr val="00B0F0"/>
                </a:solidFill>
              </a:rPr>
              <a:t>Ahmed Hossam</a:t>
            </a:r>
          </a:p>
          <a:p>
            <a:r>
              <a:rPr lang="en-US" sz="1500" b="1" kern="0" spc="300" dirty="0">
                <a:solidFill>
                  <a:srgbClr val="00B0F0"/>
                </a:solidFill>
              </a:rPr>
              <a:t>Mohamed Hussein</a:t>
            </a:r>
          </a:p>
          <a:p>
            <a:r>
              <a:rPr lang="en-US" sz="1500" b="1" kern="0" spc="300" dirty="0">
                <a:solidFill>
                  <a:srgbClr val="00B0F0"/>
                </a:solidFill>
              </a:rPr>
              <a:t>Moustafa </a:t>
            </a:r>
            <a:r>
              <a:rPr lang="en-US" sz="1500" b="1" kern="0" spc="300" dirty="0" err="1">
                <a:solidFill>
                  <a:srgbClr val="00B0F0"/>
                </a:solidFill>
              </a:rPr>
              <a:t>dawood</a:t>
            </a:r>
            <a:r>
              <a:rPr lang="en-US" sz="1500" b="1" kern="0" spc="300" dirty="0" err="1">
                <a:solidFill>
                  <a:schemeClr val="bg1"/>
                </a:solidFill>
              </a:rPr>
              <a:t>staf</a:t>
            </a:r>
            <a:r>
              <a:rPr lang="en-US" sz="1500" b="1" kern="0" spc="300" dirty="0">
                <a:solidFill>
                  <a:schemeClr val="bg1"/>
                </a:solidFill>
              </a:rPr>
              <a:t> </a:t>
            </a:r>
            <a:r>
              <a:rPr lang="en-US" sz="1600" b="1" kern="0" spc="300" dirty="0">
                <a:solidFill>
                  <a:schemeClr val="bg1"/>
                </a:solidFill>
              </a:rPr>
              <a:t>Dawood</a:t>
            </a:r>
          </a:p>
          <a:p>
            <a:r>
              <a:rPr lang="en-US" b="1" kern="0" spc="300" dirty="0">
                <a:solidFill>
                  <a:srgbClr val="0070C0"/>
                </a:solidFill>
              </a:rPr>
              <a:t>Under supervision of:</a:t>
            </a:r>
          </a:p>
          <a:p>
            <a:r>
              <a:rPr lang="en-US" sz="1500" b="1" kern="0" spc="300" dirty="0" err="1">
                <a:solidFill>
                  <a:srgbClr val="00B0F0"/>
                </a:solidFill>
              </a:rPr>
              <a:t>Eng.Mohamed</a:t>
            </a:r>
            <a:r>
              <a:rPr lang="en-US" sz="1500" b="1" kern="0" spc="300" dirty="0">
                <a:solidFill>
                  <a:srgbClr val="00B0F0"/>
                </a:solidFill>
              </a:rPr>
              <a:t> El-Adawy</a:t>
            </a:r>
          </a:p>
          <a:p>
            <a:r>
              <a:rPr lang="en-US" sz="1600" b="1" kern="0" spc="300" dirty="0">
                <a:solidFill>
                  <a:schemeClr val="bg1"/>
                </a:solidFill>
              </a:rPr>
              <a:t>Eng. Mohamed El-Adaw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4056BF-6160-1948-C84C-4ACBFE9E2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103" y="364651"/>
            <a:ext cx="1522605" cy="55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86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B4D8"/>
                </a:solidFill>
              </a:rPr>
              <a:t>R X   P A T H   V E R I F I C A T I O N   P L A 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4747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Black-Box Testing · ISAC RX Wrapper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2651760" cy="804672"/>
          </a:xfrm>
          <a:prstGeom prst="rect">
            <a:avLst/>
          </a:prstGeom>
          <a:solidFill>
            <a:srgbClr val="0F2040"/>
          </a:solidFill>
          <a:ln w="63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1155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8CC"/>
                </a:solidFill>
              </a:rPr>
              <a:t>Document ID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V-Plan-RX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72968" y="1078992"/>
            <a:ext cx="2651760" cy="804672"/>
          </a:xfrm>
          <a:prstGeom prst="rect">
            <a:avLst/>
          </a:prstGeom>
          <a:solidFill>
            <a:srgbClr val="0F2040"/>
          </a:solidFill>
          <a:ln w="63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72968" y="11155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8CC"/>
                </a:solidFill>
              </a:rPr>
              <a:t>Scope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172968" y="13716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Black-Box RX Path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25896" y="1078992"/>
            <a:ext cx="2651760" cy="804672"/>
          </a:xfrm>
          <a:prstGeom prst="rect">
            <a:avLst/>
          </a:prstGeom>
          <a:solidFill>
            <a:srgbClr val="0F2040"/>
          </a:solidFill>
          <a:ln w="63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25896" y="11155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B8CC"/>
                </a:solidFill>
              </a:rPr>
              <a:t>Date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25896" y="13716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May 2026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2084832"/>
            <a:ext cx="2651760" cy="1234440"/>
          </a:xfrm>
          <a:prstGeom prst="rect">
            <a:avLst/>
          </a:prstGeom>
          <a:solidFill>
            <a:srgbClr val="0F2040"/>
          </a:solidFill>
          <a:ln w="1016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14884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B4D8"/>
                </a:solidFill>
              </a:rPr>
              <a:t>14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320040" y="28529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8CC"/>
                </a:solidFill>
              </a:rPr>
              <a:t>Test Cases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72968" y="2084832"/>
            <a:ext cx="2651760" cy="1234440"/>
          </a:xfrm>
          <a:prstGeom prst="rect">
            <a:avLst/>
          </a:prstGeom>
          <a:solidFill>
            <a:srgbClr val="0F2040"/>
          </a:solidFill>
          <a:ln w="1016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72968" y="214884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B4D8"/>
                </a:solidFill>
              </a:rPr>
              <a:t>7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3172968" y="28529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8CC"/>
                </a:solidFill>
              </a:rPr>
              <a:t>Feature Areas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25896" y="2084832"/>
            <a:ext cx="2651760" cy="1234440"/>
          </a:xfrm>
          <a:prstGeom prst="rect">
            <a:avLst/>
          </a:prstGeom>
          <a:solidFill>
            <a:srgbClr val="0F2040"/>
          </a:solidFill>
          <a:ln w="1016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25896" y="214884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B4D8"/>
                </a:solidFill>
              </a:rPr>
              <a:t>5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6025896" y="28529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8CC"/>
                </a:solidFill>
              </a:rPr>
              <a:t>Coverage Groups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493008"/>
            <a:ext cx="8503920" cy="804672"/>
          </a:xfrm>
          <a:prstGeom prst="rect">
            <a:avLst/>
          </a:prstGeom>
          <a:solidFill>
            <a:srgbClr val="152850"/>
          </a:solidFill>
          <a:ln w="12700">
            <a:solidFill>
              <a:srgbClr val="152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52958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B8CC"/>
                </a:solidFill>
              </a:rPr>
              <a:t>DUT: RX Wrapper (black-box)  ·  Methodology: PYUVM single active agent (Rx Top Agent)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B8CC"/>
                </a:solidFill>
              </a:rPr>
              <a:t>RX FFT: N = 4096 (Radix-2)  ·  IFFT: N = 2048 (Radix-2, Radar Range Profile)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B8CC"/>
                </a:solidFill>
              </a:rPr>
              <a:t>256-QAM · 1500 active OFDM subcarriers  ·  Chirp BW: 200 MHz LFM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82128" y="16459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91020"/>
          </a:solidFill>
          <a:ln w="12700">
            <a:solidFill>
              <a:srgbClr val="09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</a:rPr>
              <a:t>Document ID: VPlan-RX  |  Status: DRAFT  |  Fs = 491.52 MHz  |  FFT N = 4096  |  IFFT N = 2048  |  WL=16</a:t>
            </a:r>
            <a:endParaRPr lang="en-US" sz="7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7B74EEE-C9EC-B6AF-74CC-665A14869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867" y="151055"/>
            <a:ext cx="1426124" cy="5164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B4D8"/>
                </a:solidFill>
              </a:rPr>
              <a:t>R X   P A T H   A R C H I T E C T U R 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RX Signal Processing Pipeline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882128" y="16459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91020"/>
          </a:solidFill>
          <a:ln w="12700">
            <a:solidFill>
              <a:srgbClr val="09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</a:rPr>
              <a:t>Document ID: VPlan-RX  |  Status: DRAFT  |  Fs = 491.52 MHz  |  FFT N = 4096  |  IFFT N = 2048  |  WL=16</a:t>
            </a:r>
            <a:endParaRPr lang="en-US" sz="7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0DCBF31-143D-6D3B-4D2D-414A9D131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853" y="3535896"/>
            <a:ext cx="1675648" cy="97011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1DF92C4-9658-F7CF-818C-5736A75B7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464" y="4074899"/>
            <a:ext cx="663701" cy="384248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5D0AF084-EDA8-C1CD-016E-5D183319D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1291" y="203687"/>
            <a:ext cx="1475549" cy="5225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FB2EEC-8C6E-2D35-2D18-1559783FF3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438" y="1115018"/>
            <a:ext cx="7990841" cy="3260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842248" y="1298448"/>
            <a:ext cx="164592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842248" y="1024128"/>
            <a:ext cx="164592" cy="13716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882128" y="16459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91020"/>
          </a:solidFill>
          <a:ln w="12700">
            <a:solidFill>
              <a:srgbClr val="09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</a:rPr>
              <a:t>Document ID: VPlan-RX  |  Status: DRAFT  |  Fs = 491.52 MHz  |  FFT N = 4096  |  IFFT N = 2048  |  WL=16</a:t>
            </a:r>
            <a:endParaRPr lang="en-US" sz="7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AD8B3CC0-C493-B65B-6198-6DE3FA54D6AD}"/>
              </a:ext>
            </a:extLst>
          </p:cNvPr>
          <p:cNvSpPr/>
          <p:nvPr/>
        </p:nvSpPr>
        <p:spPr>
          <a:xfrm>
            <a:off x="178308" y="220072"/>
            <a:ext cx="822960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63" b="1" kern="0" spc="225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INTERFACE &amp; ENVIRONMENT ARCHITECTURE</a:t>
            </a:r>
            <a:endParaRPr lang="en-US" sz="563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1C12BB5-83E6-991A-36DD-87973366E92F}"/>
              </a:ext>
            </a:extLst>
          </p:cNvPr>
          <p:cNvSpPr/>
          <p:nvPr/>
        </p:nvSpPr>
        <p:spPr>
          <a:xfrm>
            <a:off x="178308" y="384664"/>
            <a:ext cx="864108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41B63E4-367A-2337-BE07-C8F829AEC3BD}"/>
              </a:ext>
            </a:extLst>
          </p:cNvPr>
          <p:cNvSpPr/>
          <p:nvPr/>
        </p:nvSpPr>
        <p:spPr>
          <a:xfrm>
            <a:off x="178308" y="446386"/>
            <a:ext cx="61722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&amp; Verification Topology</a:t>
            </a:r>
            <a:endParaRPr lang="en-US" sz="16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FB88379-41A1-0ECF-C211-4266666F26DF}"/>
              </a:ext>
            </a:extLst>
          </p:cNvPr>
          <p:cNvSpPr/>
          <p:nvPr/>
        </p:nvSpPr>
        <p:spPr>
          <a:xfrm>
            <a:off x="7379208" y="412096"/>
            <a:ext cx="14401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825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B76C0DE2-89D4-60C6-AA2E-7CA95CE41C50}"/>
              </a:ext>
            </a:extLst>
          </p:cNvPr>
          <p:cNvSpPr/>
          <p:nvPr/>
        </p:nvSpPr>
        <p:spPr>
          <a:xfrm>
            <a:off x="486918" y="1166476"/>
            <a:ext cx="113157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1EC33C9A-47A3-6448-A967-EC5361C7D703}"/>
              </a:ext>
            </a:extLst>
          </p:cNvPr>
          <p:cNvSpPr/>
          <p:nvPr/>
        </p:nvSpPr>
        <p:spPr>
          <a:xfrm>
            <a:off x="495005" y="2162568"/>
            <a:ext cx="113157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FFA319BF-6DAB-43C4-5096-99D5B0178CA8}"/>
              </a:ext>
            </a:extLst>
          </p:cNvPr>
          <p:cNvSpPr/>
          <p:nvPr/>
        </p:nvSpPr>
        <p:spPr>
          <a:xfrm>
            <a:off x="87925" y="1179417"/>
            <a:ext cx="636651" cy="280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/>
            <a:endParaRPr lang="en-US" sz="563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ECBFEE8-9BE5-FA2C-9C71-539247E51DED}"/>
              </a:ext>
            </a:extLst>
          </p:cNvPr>
          <p:cNvSpPr/>
          <p:nvPr/>
        </p:nvSpPr>
        <p:spPr>
          <a:xfrm>
            <a:off x="495005" y="2890681"/>
            <a:ext cx="113157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D9F30CE0-6571-8173-22DD-4398E12182CB}"/>
              </a:ext>
            </a:extLst>
          </p:cNvPr>
          <p:cNvSpPr/>
          <p:nvPr/>
        </p:nvSpPr>
        <p:spPr>
          <a:xfrm>
            <a:off x="504063" y="4366445"/>
            <a:ext cx="113157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388B87C3-7656-873C-76E4-51F3C7C639AD}"/>
              </a:ext>
            </a:extLst>
          </p:cNvPr>
          <p:cNvSpPr/>
          <p:nvPr/>
        </p:nvSpPr>
        <p:spPr>
          <a:xfrm>
            <a:off x="226314" y="2469496"/>
            <a:ext cx="891540" cy="3086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/>
            <a:endParaRPr lang="en-US" sz="563" dirty="0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D2B9A691-F535-B3EB-88BB-02D712E28C40}"/>
              </a:ext>
            </a:extLst>
          </p:cNvPr>
          <p:cNvSpPr/>
          <p:nvPr/>
        </p:nvSpPr>
        <p:spPr>
          <a:xfrm>
            <a:off x="486918" y="3950436"/>
            <a:ext cx="113157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FF8A11FC-6698-77DA-4206-7EC343D23A5D}"/>
              </a:ext>
            </a:extLst>
          </p:cNvPr>
          <p:cNvSpPr/>
          <p:nvPr/>
        </p:nvSpPr>
        <p:spPr>
          <a:xfrm>
            <a:off x="226314" y="3121006"/>
            <a:ext cx="891540" cy="3086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/>
            <a:endParaRPr lang="en-US" sz="563" dirty="0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9E074520-E64B-61E3-EB1B-A467BEB754A2}"/>
              </a:ext>
            </a:extLst>
          </p:cNvPr>
          <p:cNvSpPr/>
          <p:nvPr/>
        </p:nvSpPr>
        <p:spPr>
          <a:xfrm>
            <a:off x="1635633" y="981310"/>
            <a:ext cx="1920240" cy="3854196"/>
          </a:xfrm>
          <a:prstGeom prst="rect">
            <a:avLst/>
          </a:prstGeom>
          <a:solidFill>
            <a:srgbClr val="112845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721D2FD7-EC28-0DA4-6A18-36C13F08478E}"/>
              </a:ext>
            </a:extLst>
          </p:cNvPr>
          <p:cNvSpPr/>
          <p:nvPr/>
        </p:nvSpPr>
        <p:spPr>
          <a:xfrm>
            <a:off x="1673352" y="2400916"/>
            <a:ext cx="18516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</a:t>
            </a:r>
            <a:endParaRPr lang="en-US" sz="1650" dirty="0"/>
          </a:p>
          <a:p>
            <a:pPr algn="ctr"/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Wrapper</a:t>
            </a:r>
            <a:endParaRPr lang="en-US" sz="1650" dirty="0"/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0354B039-3F6A-91DE-C61C-A04E5EF531C4}"/>
              </a:ext>
            </a:extLst>
          </p:cNvPr>
          <p:cNvSpPr/>
          <p:nvPr/>
        </p:nvSpPr>
        <p:spPr>
          <a:xfrm>
            <a:off x="3573018" y="2387922"/>
            <a:ext cx="1028700" cy="0"/>
          </a:xfrm>
          <a:prstGeom prst="line">
            <a:avLst/>
          </a:prstGeom>
          <a:noFill/>
          <a:ln w="19050">
            <a:solidFill>
              <a:srgbClr val="43A047"/>
            </a:solidFill>
            <a:prstDash val="solid"/>
            <a:tailEnd type="triangle"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1914BCB6-4186-81BD-90DD-5FED00E90C55}"/>
              </a:ext>
            </a:extLst>
          </p:cNvPr>
          <p:cNvSpPr/>
          <p:nvPr/>
        </p:nvSpPr>
        <p:spPr>
          <a:xfrm>
            <a:off x="4636008" y="2240377"/>
            <a:ext cx="1508760" cy="288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25" dirty="0" err="1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ofdm_out_im</a:t>
            </a:r>
            <a:endParaRPr lang="en-US" sz="825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6CFA9186-3396-D3C4-8B24-785C5C86306A}"/>
              </a:ext>
            </a:extLst>
          </p:cNvPr>
          <p:cNvSpPr/>
          <p:nvPr/>
        </p:nvSpPr>
        <p:spPr>
          <a:xfrm>
            <a:off x="3555873" y="2743816"/>
            <a:ext cx="1028700" cy="0"/>
          </a:xfrm>
          <a:prstGeom prst="line">
            <a:avLst/>
          </a:prstGeom>
          <a:noFill/>
          <a:ln w="19050">
            <a:solidFill>
              <a:srgbClr val="43A047"/>
            </a:solidFill>
            <a:prstDash val="solid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247D11E6-6927-F33F-5905-0D55CE5BFAA6}"/>
              </a:ext>
            </a:extLst>
          </p:cNvPr>
          <p:cNvSpPr/>
          <p:nvPr/>
        </p:nvSpPr>
        <p:spPr>
          <a:xfrm>
            <a:off x="4636008" y="2652564"/>
            <a:ext cx="1508760" cy="288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25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ofdm_valid</a:t>
            </a:r>
            <a:endParaRPr lang="en-US" sz="825" dirty="0"/>
          </a:p>
          <a:p>
            <a:endParaRPr lang="en-US" sz="825" dirty="0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7A9BC02D-B11E-035A-CEFB-067DFE79E8E1}"/>
              </a:ext>
            </a:extLst>
          </p:cNvPr>
          <p:cNvSpPr/>
          <p:nvPr/>
        </p:nvSpPr>
        <p:spPr>
          <a:xfrm>
            <a:off x="3573018" y="3163060"/>
            <a:ext cx="1028700" cy="0"/>
          </a:xfrm>
          <a:prstGeom prst="line">
            <a:avLst/>
          </a:prstGeom>
          <a:noFill/>
          <a:ln w="19050">
            <a:solidFill>
              <a:srgbClr val="43A047"/>
            </a:solidFill>
            <a:prstDash val="solid"/>
            <a:tailEnd type="triangle"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CB266D45-B296-A3BE-B41E-B9EFEFE3DBEE}"/>
              </a:ext>
            </a:extLst>
          </p:cNvPr>
          <p:cNvSpPr/>
          <p:nvPr/>
        </p:nvSpPr>
        <p:spPr>
          <a:xfrm>
            <a:off x="4601718" y="3069786"/>
            <a:ext cx="1508760" cy="288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25" dirty="0" err="1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radar_out_re</a:t>
            </a:r>
            <a:endParaRPr lang="en-US" sz="825" dirty="0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0944297B-273D-1494-AB8E-80967F45B30C}"/>
              </a:ext>
            </a:extLst>
          </p:cNvPr>
          <p:cNvSpPr/>
          <p:nvPr/>
        </p:nvSpPr>
        <p:spPr>
          <a:xfrm>
            <a:off x="3573018" y="3823628"/>
            <a:ext cx="1028700" cy="0"/>
          </a:xfrm>
          <a:prstGeom prst="line">
            <a:avLst/>
          </a:prstGeom>
          <a:noFill/>
          <a:ln w="19050">
            <a:solidFill>
              <a:srgbClr val="43A047"/>
            </a:solidFill>
            <a:prstDash val="solid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63F0F656-5C42-0608-4A3C-23D3B78359BD}"/>
              </a:ext>
            </a:extLst>
          </p:cNvPr>
          <p:cNvSpPr/>
          <p:nvPr/>
        </p:nvSpPr>
        <p:spPr>
          <a:xfrm>
            <a:off x="4584573" y="3709467"/>
            <a:ext cx="1508760" cy="288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25" dirty="0" err="1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radar_valid</a:t>
            </a:r>
            <a:endParaRPr lang="en-US" sz="825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D2097040-B612-397D-3D70-AE7409508F61}"/>
              </a:ext>
            </a:extLst>
          </p:cNvPr>
          <p:cNvSpPr/>
          <p:nvPr/>
        </p:nvSpPr>
        <p:spPr>
          <a:xfrm>
            <a:off x="6281928" y="857866"/>
            <a:ext cx="2537460" cy="3977640"/>
          </a:xfrm>
          <a:prstGeom prst="rect">
            <a:avLst/>
          </a:prstGeom>
          <a:solidFill>
            <a:srgbClr val="112845"/>
          </a:solidFill>
          <a:ln w="635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D5B69C1D-3E32-FA26-B601-35FA2E5FD06C}"/>
              </a:ext>
            </a:extLst>
          </p:cNvPr>
          <p:cNvSpPr/>
          <p:nvPr/>
        </p:nvSpPr>
        <p:spPr>
          <a:xfrm>
            <a:off x="6316218" y="905872"/>
            <a:ext cx="24688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Parameters</a:t>
            </a:r>
            <a:endParaRPr lang="en-US" sz="825" dirty="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6A0CEC77-D1F0-3EB7-0FCA-0F35E98AAEA5}"/>
              </a:ext>
            </a:extLst>
          </p:cNvPr>
          <p:cNvSpPr/>
          <p:nvPr/>
        </p:nvSpPr>
        <p:spPr>
          <a:xfrm>
            <a:off x="6302502" y="1235056"/>
            <a:ext cx="2496312" cy="466344"/>
          </a:xfrm>
          <a:prstGeom prst="rect">
            <a:avLst/>
          </a:prstGeom>
          <a:solidFill>
            <a:srgbClr val="0D2137"/>
          </a:solidFill>
          <a:ln w="381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571FA159-3D79-2B4F-B5F6-826DEB9C79A9}"/>
              </a:ext>
            </a:extLst>
          </p:cNvPr>
          <p:cNvSpPr/>
          <p:nvPr/>
        </p:nvSpPr>
        <p:spPr>
          <a:xfrm>
            <a:off x="6350508" y="126248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" b="1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</a:t>
            </a:r>
            <a:endParaRPr lang="en-US" sz="600" dirty="0"/>
          </a:p>
          <a:p>
            <a:r>
              <a:rPr lang="en-US" sz="600" b="1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(System Clock)</a:t>
            </a:r>
            <a:endParaRPr lang="en-US" sz="600" dirty="0"/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67F12D43-0D92-34CB-8478-3B6614696708}"/>
              </a:ext>
            </a:extLst>
          </p:cNvPr>
          <p:cNvSpPr/>
          <p:nvPr/>
        </p:nvSpPr>
        <p:spPr>
          <a:xfrm>
            <a:off x="7344918" y="126248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491.52 MHz</a:t>
            </a:r>
            <a:endParaRPr lang="en-US" sz="675" dirty="0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B70891E8-3BC6-D8B4-C3F2-F89043F98054}"/>
              </a:ext>
            </a:extLst>
          </p:cNvPr>
          <p:cNvSpPr/>
          <p:nvPr/>
        </p:nvSpPr>
        <p:spPr>
          <a:xfrm>
            <a:off x="6302502" y="1728832"/>
            <a:ext cx="2496312" cy="466344"/>
          </a:xfrm>
          <a:prstGeom prst="rect">
            <a:avLst/>
          </a:prstGeom>
          <a:solidFill>
            <a:srgbClr val="112845"/>
          </a:solidFill>
          <a:ln w="381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3" name="Text 33">
            <a:extLst>
              <a:ext uri="{FF2B5EF4-FFF2-40B4-BE49-F238E27FC236}">
                <a16:creationId xmlns:a16="http://schemas.microsoft.com/office/drawing/2014/main" id="{99FB144B-4352-BCC7-7CB7-16ED74578EB6}"/>
              </a:ext>
            </a:extLst>
          </p:cNvPr>
          <p:cNvSpPr/>
          <p:nvPr/>
        </p:nvSpPr>
        <p:spPr>
          <a:xfrm>
            <a:off x="6350508" y="1756264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" b="1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600" dirty="0"/>
          </a:p>
          <a:p>
            <a:r>
              <a:rPr lang="en-US" sz="600" b="1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(FFT/IFFT Size)</a:t>
            </a:r>
            <a:endParaRPr lang="en-US" sz="600" dirty="0"/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471B0F9A-37E4-627A-1627-73BA6B2B0B47}"/>
              </a:ext>
            </a:extLst>
          </p:cNvPr>
          <p:cNvSpPr/>
          <p:nvPr/>
        </p:nvSpPr>
        <p:spPr>
          <a:xfrm>
            <a:off x="7344918" y="175626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 points</a:t>
            </a:r>
            <a:endParaRPr lang="en-US" sz="675" dirty="0"/>
          </a:p>
          <a:p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(Radix-2)</a:t>
            </a:r>
            <a:endParaRPr lang="en-US" sz="675" dirty="0"/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44C18AA0-45E3-D8A6-B62F-CFDF1797FF40}"/>
              </a:ext>
            </a:extLst>
          </p:cNvPr>
          <p:cNvSpPr/>
          <p:nvPr/>
        </p:nvSpPr>
        <p:spPr>
          <a:xfrm>
            <a:off x="6302502" y="2222608"/>
            <a:ext cx="2496312" cy="466344"/>
          </a:xfrm>
          <a:prstGeom prst="rect">
            <a:avLst/>
          </a:prstGeom>
          <a:solidFill>
            <a:srgbClr val="0D2137"/>
          </a:solidFill>
          <a:ln w="381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4428B6DE-D2C5-DE66-CCCE-C2B90452B9BD}"/>
              </a:ext>
            </a:extLst>
          </p:cNvPr>
          <p:cNvSpPr/>
          <p:nvPr/>
        </p:nvSpPr>
        <p:spPr>
          <a:xfrm>
            <a:off x="6350508" y="225004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" b="1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 FFT</a:t>
            </a:r>
            <a:endParaRPr lang="en-US" sz="600" dirty="0"/>
          </a:p>
          <a:p>
            <a:r>
              <a:rPr lang="en-US" sz="600" b="1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600" dirty="0"/>
          </a:p>
        </p:txBody>
      </p:sp>
      <p:sp>
        <p:nvSpPr>
          <p:cNvPr id="37" name="Text 37">
            <a:extLst>
              <a:ext uri="{FF2B5EF4-FFF2-40B4-BE49-F238E27FC236}">
                <a16:creationId xmlns:a16="http://schemas.microsoft.com/office/drawing/2014/main" id="{2B487E7A-322E-447A-D8A3-224CF8B440A4}"/>
              </a:ext>
            </a:extLst>
          </p:cNvPr>
          <p:cNvSpPr/>
          <p:nvPr/>
        </p:nvSpPr>
        <p:spPr>
          <a:xfrm>
            <a:off x="7344918" y="2250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WL=16, FL=14</a:t>
            </a:r>
            <a:endParaRPr lang="en-US" sz="675" dirty="0"/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911E3CC6-C74A-6611-6F1D-F66DC52FE69E}"/>
              </a:ext>
            </a:extLst>
          </p:cNvPr>
          <p:cNvSpPr/>
          <p:nvPr/>
        </p:nvSpPr>
        <p:spPr>
          <a:xfrm>
            <a:off x="6302502" y="2716384"/>
            <a:ext cx="2496312" cy="466344"/>
          </a:xfrm>
          <a:prstGeom prst="rect">
            <a:avLst/>
          </a:prstGeom>
          <a:solidFill>
            <a:srgbClr val="112845"/>
          </a:solidFill>
          <a:ln w="381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9" name="Text 39">
            <a:extLst>
              <a:ext uri="{FF2B5EF4-FFF2-40B4-BE49-F238E27FC236}">
                <a16:creationId xmlns:a16="http://schemas.microsoft.com/office/drawing/2014/main" id="{3CD83667-F4FD-0BF4-3FD6-128CAC487431}"/>
              </a:ext>
            </a:extLst>
          </p:cNvPr>
          <p:cNvSpPr/>
          <p:nvPr/>
        </p:nvSpPr>
        <p:spPr>
          <a:xfrm>
            <a:off x="6350508" y="2743816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" b="1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IFFT</a:t>
            </a:r>
            <a:endParaRPr lang="en-US" sz="600" dirty="0"/>
          </a:p>
          <a:p>
            <a:r>
              <a:rPr lang="en-US" sz="600" b="1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600" dirty="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E38A3732-BACD-636A-839B-CA698717F92D}"/>
              </a:ext>
            </a:extLst>
          </p:cNvPr>
          <p:cNvSpPr/>
          <p:nvPr/>
        </p:nvSpPr>
        <p:spPr>
          <a:xfrm>
            <a:off x="7344918" y="274381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WL=16, FL=5</a:t>
            </a:r>
            <a:endParaRPr lang="en-US" sz="675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6A6CA874-E71D-1E66-4ED4-43913C626C6F}"/>
              </a:ext>
            </a:extLst>
          </p:cNvPr>
          <p:cNvSpPr/>
          <p:nvPr/>
        </p:nvSpPr>
        <p:spPr>
          <a:xfrm>
            <a:off x="6302502" y="3210160"/>
            <a:ext cx="2496312" cy="466344"/>
          </a:xfrm>
          <a:prstGeom prst="rect">
            <a:avLst/>
          </a:prstGeom>
          <a:solidFill>
            <a:srgbClr val="0D2137"/>
          </a:solidFill>
          <a:ln w="381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7" name="Text 42">
            <a:extLst>
              <a:ext uri="{FF2B5EF4-FFF2-40B4-BE49-F238E27FC236}">
                <a16:creationId xmlns:a16="http://schemas.microsoft.com/office/drawing/2014/main" id="{8EA3379C-AAEF-9AF1-67B8-0F1A5A88576F}"/>
              </a:ext>
            </a:extLst>
          </p:cNvPr>
          <p:cNvSpPr/>
          <p:nvPr/>
        </p:nvSpPr>
        <p:spPr>
          <a:xfrm>
            <a:off x="6350508" y="3237592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" b="1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OFDM Band</a:t>
            </a:r>
            <a:endParaRPr lang="en-US" sz="600" dirty="0"/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F81D67C0-89E0-8154-B92E-38F22D57661A}"/>
              </a:ext>
            </a:extLst>
          </p:cNvPr>
          <p:cNvSpPr/>
          <p:nvPr/>
        </p:nvSpPr>
        <p:spPr>
          <a:xfrm>
            <a:off x="7344918" y="32375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10-190 MHz</a:t>
            </a:r>
            <a:endParaRPr lang="en-US" sz="675" dirty="0"/>
          </a:p>
          <a:p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(bins 84-1583)</a:t>
            </a:r>
            <a:endParaRPr lang="en-US" sz="675" dirty="0"/>
          </a:p>
        </p:txBody>
      </p:sp>
      <p:sp>
        <p:nvSpPr>
          <p:cNvPr id="49" name="Shape 44">
            <a:extLst>
              <a:ext uri="{FF2B5EF4-FFF2-40B4-BE49-F238E27FC236}">
                <a16:creationId xmlns:a16="http://schemas.microsoft.com/office/drawing/2014/main" id="{D6DCC578-2ED9-8C13-6F5D-D32417154176}"/>
              </a:ext>
            </a:extLst>
          </p:cNvPr>
          <p:cNvSpPr/>
          <p:nvPr/>
        </p:nvSpPr>
        <p:spPr>
          <a:xfrm>
            <a:off x="6302502" y="3703936"/>
            <a:ext cx="2496312" cy="466344"/>
          </a:xfrm>
          <a:prstGeom prst="rect">
            <a:avLst/>
          </a:prstGeom>
          <a:solidFill>
            <a:srgbClr val="112845"/>
          </a:solidFill>
          <a:ln w="381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0" name="Text 45">
            <a:extLst>
              <a:ext uri="{FF2B5EF4-FFF2-40B4-BE49-F238E27FC236}">
                <a16:creationId xmlns:a16="http://schemas.microsoft.com/office/drawing/2014/main" id="{27C114AF-96EC-B7D8-E293-FBFCD3996EAF}"/>
              </a:ext>
            </a:extLst>
          </p:cNvPr>
          <p:cNvSpPr/>
          <p:nvPr/>
        </p:nvSpPr>
        <p:spPr>
          <a:xfrm>
            <a:off x="6350508" y="373136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" b="1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Chirp Band</a:t>
            </a:r>
            <a:endParaRPr lang="en-US" sz="600" dirty="0"/>
          </a:p>
        </p:txBody>
      </p:sp>
      <p:sp>
        <p:nvSpPr>
          <p:cNvPr id="51" name="Text 46">
            <a:extLst>
              <a:ext uri="{FF2B5EF4-FFF2-40B4-BE49-F238E27FC236}">
                <a16:creationId xmlns:a16="http://schemas.microsoft.com/office/drawing/2014/main" id="{8653FCB0-9C92-BEA2-385B-7813ED800F61}"/>
              </a:ext>
            </a:extLst>
          </p:cNvPr>
          <p:cNvSpPr/>
          <p:nvPr/>
        </p:nvSpPr>
        <p:spPr>
          <a:xfrm>
            <a:off x="7344918" y="37313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0-200 MHz</a:t>
            </a:r>
            <a:endParaRPr lang="en-US" sz="675" dirty="0"/>
          </a:p>
          <a:p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(bins 2430-4096)</a:t>
            </a:r>
            <a:endParaRPr lang="en-US" sz="675" dirty="0"/>
          </a:p>
        </p:txBody>
      </p:sp>
      <p:sp>
        <p:nvSpPr>
          <p:cNvPr id="52" name="Shape 47">
            <a:extLst>
              <a:ext uri="{FF2B5EF4-FFF2-40B4-BE49-F238E27FC236}">
                <a16:creationId xmlns:a16="http://schemas.microsoft.com/office/drawing/2014/main" id="{A23961F5-DF9D-B533-A76B-F3C9A7FF5D65}"/>
              </a:ext>
            </a:extLst>
          </p:cNvPr>
          <p:cNvSpPr/>
          <p:nvPr/>
        </p:nvSpPr>
        <p:spPr>
          <a:xfrm>
            <a:off x="6302502" y="4197712"/>
            <a:ext cx="2496312" cy="466344"/>
          </a:xfrm>
          <a:prstGeom prst="rect">
            <a:avLst/>
          </a:prstGeom>
          <a:solidFill>
            <a:srgbClr val="0D2137"/>
          </a:solidFill>
          <a:ln w="381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3" name="Text 48">
            <a:extLst>
              <a:ext uri="{FF2B5EF4-FFF2-40B4-BE49-F238E27FC236}">
                <a16:creationId xmlns:a16="http://schemas.microsoft.com/office/drawing/2014/main" id="{A983E1B2-8740-D929-EA77-0048F6140F04}"/>
              </a:ext>
            </a:extLst>
          </p:cNvPr>
          <p:cNvSpPr/>
          <p:nvPr/>
        </p:nvSpPr>
        <p:spPr>
          <a:xfrm>
            <a:off x="6350508" y="4225144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" b="1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Multiplier</a:t>
            </a:r>
            <a:endParaRPr lang="en-US" sz="600" dirty="0"/>
          </a:p>
        </p:txBody>
      </p:sp>
      <p:sp>
        <p:nvSpPr>
          <p:cNvPr id="54" name="Text 49">
            <a:extLst>
              <a:ext uri="{FF2B5EF4-FFF2-40B4-BE49-F238E27FC236}">
                <a16:creationId xmlns:a16="http://schemas.microsoft.com/office/drawing/2014/main" id="{5B65CD94-3A2B-BCC9-0D08-99AFEF6F487A}"/>
              </a:ext>
            </a:extLst>
          </p:cNvPr>
          <p:cNvSpPr/>
          <p:nvPr/>
        </p:nvSpPr>
        <p:spPr>
          <a:xfrm>
            <a:off x="7344918" y="422514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* conj(ref)</a:t>
            </a:r>
            <a:endParaRPr lang="en-US" sz="675" dirty="0"/>
          </a:p>
          <a:p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Equalizer)</a:t>
            </a:r>
            <a:endParaRPr lang="en-US" sz="675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E9271CAF-81AE-551D-87F0-389444161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658" y="137087"/>
            <a:ext cx="1475549" cy="522587"/>
          </a:xfrm>
          <a:prstGeom prst="rect">
            <a:avLst/>
          </a:prstGeom>
        </p:spPr>
      </p:pic>
      <p:sp>
        <p:nvSpPr>
          <p:cNvPr id="56" name="Shape 6">
            <a:extLst>
              <a:ext uri="{FF2B5EF4-FFF2-40B4-BE49-F238E27FC236}">
                <a16:creationId xmlns:a16="http://schemas.microsoft.com/office/drawing/2014/main" id="{C3304751-7DC5-F2F7-7AEC-C9DA8A6C778E}"/>
              </a:ext>
            </a:extLst>
          </p:cNvPr>
          <p:cNvSpPr/>
          <p:nvPr/>
        </p:nvSpPr>
        <p:spPr>
          <a:xfrm>
            <a:off x="504063" y="1446662"/>
            <a:ext cx="113157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57" name="Shape 6">
            <a:extLst>
              <a:ext uri="{FF2B5EF4-FFF2-40B4-BE49-F238E27FC236}">
                <a16:creationId xmlns:a16="http://schemas.microsoft.com/office/drawing/2014/main" id="{9865753D-D760-9B9F-3874-3B905ADBFB3B}"/>
              </a:ext>
            </a:extLst>
          </p:cNvPr>
          <p:cNvSpPr/>
          <p:nvPr/>
        </p:nvSpPr>
        <p:spPr>
          <a:xfrm>
            <a:off x="504063" y="2549636"/>
            <a:ext cx="113157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58" name="Shape 6">
            <a:extLst>
              <a:ext uri="{FF2B5EF4-FFF2-40B4-BE49-F238E27FC236}">
                <a16:creationId xmlns:a16="http://schemas.microsoft.com/office/drawing/2014/main" id="{EE2429E3-DC8B-329F-EEA0-0B6FF40F6A90}"/>
              </a:ext>
            </a:extLst>
          </p:cNvPr>
          <p:cNvSpPr/>
          <p:nvPr/>
        </p:nvSpPr>
        <p:spPr>
          <a:xfrm>
            <a:off x="504063" y="3568415"/>
            <a:ext cx="113157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triangle"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0EE4E04-715B-5034-0D72-EF633823BCAC}"/>
              </a:ext>
            </a:extLst>
          </p:cNvPr>
          <p:cNvSpPr txBox="1"/>
          <p:nvPr/>
        </p:nvSpPr>
        <p:spPr>
          <a:xfrm>
            <a:off x="435753" y="4127041"/>
            <a:ext cx="1268191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dirty="0" err="1">
                <a:solidFill>
                  <a:schemeClr val="bg1"/>
                </a:solidFill>
              </a:rPr>
              <a:t>Rx_valid_in</a:t>
            </a:r>
            <a:endParaRPr lang="en-US" sz="825" dirty="0">
              <a:solidFill>
                <a:schemeClr val="bg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501D831-C26E-6B62-B16F-1EC2154EBA75}"/>
              </a:ext>
            </a:extLst>
          </p:cNvPr>
          <p:cNvSpPr txBox="1"/>
          <p:nvPr/>
        </p:nvSpPr>
        <p:spPr>
          <a:xfrm>
            <a:off x="435753" y="1262489"/>
            <a:ext cx="682102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dirty="0" err="1">
                <a:solidFill>
                  <a:schemeClr val="bg1"/>
                </a:solidFill>
              </a:rPr>
              <a:t>rst</a:t>
            </a:r>
            <a:endParaRPr lang="en-US" sz="825" dirty="0">
              <a:solidFill>
                <a:schemeClr val="bg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B8BEEF-9F27-3175-396B-79AB7E13436E}"/>
              </a:ext>
            </a:extLst>
          </p:cNvPr>
          <p:cNvSpPr txBox="1"/>
          <p:nvPr/>
        </p:nvSpPr>
        <p:spPr>
          <a:xfrm>
            <a:off x="466344" y="3727832"/>
            <a:ext cx="82943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dirty="0" err="1">
                <a:solidFill>
                  <a:schemeClr val="bg1"/>
                </a:solidFill>
              </a:rPr>
              <a:t>Rx_in_re</a:t>
            </a:r>
            <a:endParaRPr lang="en-US" sz="825" dirty="0">
              <a:solidFill>
                <a:schemeClr val="bg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D987B8C-5F6F-5A4A-1112-8C9631C6A09B}"/>
              </a:ext>
            </a:extLst>
          </p:cNvPr>
          <p:cNvSpPr txBox="1"/>
          <p:nvPr/>
        </p:nvSpPr>
        <p:spPr>
          <a:xfrm>
            <a:off x="486918" y="3326315"/>
            <a:ext cx="82943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dirty="0" err="1">
                <a:solidFill>
                  <a:schemeClr val="bg1"/>
                </a:solidFill>
              </a:rPr>
              <a:t>Rx_in_im</a:t>
            </a:r>
            <a:endParaRPr lang="en-US" sz="825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B1FEE34-A022-3C66-96B0-550CFBC016CB}"/>
              </a:ext>
            </a:extLst>
          </p:cNvPr>
          <p:cNvSpPr txBox="1"/>
          <p:nvPr/>
        </p:nvSpPr>
        <p:spPr>
          <a:xfrm>
            <a:off x="455863" y="1957238"/>
            <a:ext cx="89154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dirty="0" err="1">
                <a:solidFill>
                  <a:schemeClr val="bg1"/>
                </a:solidFill>
              </a:rPr>
              <a:t>Ref_wr_en</a:t>
            </a:r>
            <a:endParaRPr lang="en-US" sz="825" dirty="0">
              <a:solidFill>
                <a:schemeClr val="bg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7FC3870-C7C4-D281-5949-919D3601EC2A}"/>
              </a:ext>
            </a:extLst>
          </p:cNvPr>
          <p:cNvSpPr txBox="1"/>
          <p:nvPr/>
        </p:nvSpPr>
        <p:spPr>
          <a:xfrm>
            <a:off x="435483" y="2322524"/>
            <a:ext cx="808856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dirty="0" err="1">
                <a:solidFill>
                  <a:schemeClr val="bg1"/>
                </a:solidFill>
              </a:rPr>
              <a:t>Ref_wr_re</a:t>
            </a:r>
            <a:endParaRPr lang="en-US" sz="825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503E0B4-56A0-626B-4CC2-193913EF50FA}"/>
              </a:ext>
            </a:extLst>
          </p:cNvPr>
          <p:cNvSpPr txBox="1"/>
          <p:nvPr/>
        </p:nvSpPr>
        <p:spPr>
          <a:xfrm>
            <a:off x="440541" y="2707662"/>
            <a:ext cx="75961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dirty="0" err="1">
                <a:solidFill>
                  <a:schemeClr val="bg1"/>
                </a:solidFill>
              </a:rPr>
              <a:t>Ref_wr_im</a:t>
            </a:r>
            <a:endParaRPr lang="en-US" sz="825" dirty="0">
              <a:solidFill>
                <a:schemeClr val="bg1"/>
              </a:solidFill>
            </a:endParaRPr>
          </a:p>
        </p:txBody>
      </p:sp>
      <p:sp>
        <p:nvSpPr>
          <p:cNvPr id="66" name="Shape 18">
            <a:extLst>
              <a:ext uri="{FF2B5EF4-FFF2-40B4-BE49-F238E27FC236}">
                <a16:creationId xmlns:a16="http://schemas.microsoft.com/office/drawing/2014/main" id="{053DFD0D-4178-D0CF-2267-32A94985D1B9}"/>
              </a:ext>
            </a:extLst>
          </p:cNvPr>
          <p:cNvSpPr/>
          <p:nvPr/>
        </p:nvSpPr>
        <p:spPr>
          <a:xfrm>
            <a:off x="3586734" y="2034756"/>
            <a:ext cx="1028700" cy="0"/>
          </a:xfrm>
          <a:prstGeom prst="line">
            <a:avLst/>
          </a:prstGeom>
          <a:noFill/>
          <a:ln w="19050">
            <a:solidFill>
              <a:srgbClr val="43A047"/>
            </a:solidFill>
            <a:prstDash val="solid"/>
            <a:tailEnd type="triangle"/>
          </a:ln>
        </p:spPr>
        <p:txBody>
          <a:bodyPr/>
          <a:lstStyle/>
          <a:p>
            <a:endParaRPr lang="en-US" sz="1350"/>
          </a:p>
        </p:txBody>
      </p:sp>
      <p:sp>
        <p:nvSpPr>
          <p:cNvPr id="67" name="Text 19">
            <a:extLst>
              <a:ext uri="{FF2B5EF4-FFF2-40B4-BE49-F238E27FC236}">
                <a16:creationId xmlns:a16="http://schemas.microsoft.com/office/drawing/2014/main" id="{99FF9956-D17B-6E3F-6295-2D63510FF561}"/>
              </a:ext>
            </a:extLst>
          </p:cNvPr>
          <p:cNvSpPr/>
          <p:nvPr/>
        </p:nvSpPr>
        <p:spPr>
          <a:xfrm>
            <a:off x="4646295" y="1890738"/>
            <a:ext cx="1508760" cy="288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25" dirty="0" err="1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ofdm_out_re</a:t>
            </a:r>
            <a:endParaRPr lang="en-US" sz="825" dirty="0"/>
          </a:p>
        </p:txBody>
      </p:sp>
      <p:sp>
        <p:nvSpPr>
          <p:cNvPr id="68" name="Shape 22">
            <a:extLst>
              <a:ext uri="{FF2B5EF4-FFF2-40B4-BE49-F238E27FC236}">
                <a16:creationId xmlns:a16="http://schemas.microsoft.com/office/drawing/2014/main" id="{BCEE754C-D121-27B6-44F1-D841FD3EAFB7}"/>
              </a:ext>
            </a:extLst>
          </p:cNvPr>
          <p:cNvSpPr/>
          <p:nvPr/>
        </p:nvSpPr>
        <p:spPr>
          <a:xfrm>
            <a:off x="3555873" y="3474733"/>
            <a:ext cx="1028700" cy="0"/>
          </a:xfrm>
          <a:prstGeom prst="line">
            <a:avLst/>
          </a:prstGeom>
          <a:noFill/>
          <a:ln w="19050">
            <a:solidFill>
              <a:srgbClr val="43A047"/>
            </a:solidFill>
            <a:prstDash val="solid"/>
            <a:tailEnd type="triangle"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69" name="Text 23">
            <a:extLst>
              <a:ext uri="{FF2B5EF4-FFF2-40B4-BE49-F238E27FC236}">
                <a16:creationId xmlns:a16="http://schemas.microsoft.com/office/drawing/2014/main" id="{B87A98CC-ACF0-4378-77B1-82E2DF334C2E}"/>
              </a:ext>
            </a:extLst>
          </p:cNvPr>
          <p:cNvSpPr/>
          <p:nvPr/>
        </p:nvSpPr>
        <p:spPr>
          <a:xfrm>
            <a:off x="4615434" y="3352788"/>
            <a:ext cx="1508760" cy="288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25" dirty="0" err="1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radar_out_im</a:t>
            </a:r>
            <a:endParaRPr lang="en-US" sz="825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262CF13-B79A-2701-0686-4E4B8FF2859D}"/>
              </a:ext>
            </a:extLst>
          </p:cNvPr>
          <p:cNvSpPr txBox="1"/>
          <p:nvPr/>
        </p:nvSpPr>
        <p:spPr>
          <a:xfrm>
            <a:off x="435483" y="926141"/>
            <a:ext cx="6927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</a:rPr>
              <a:t>clk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2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B4D8"/>
                </a:solidFill>
              </a:rPr>
              <a:t>R X   P A T H   A R C H I T E C T U R 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882128" y="16459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91020"/>
          </a:solidFill>
          <a:ln w="12700">
            <a:solidFill>
              <a:srgbClr val="09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</a:rPr>
              <a:t>Document ID: VPlan-RX  |  Status: DRAFT  |  Fs = 491.52 MHz  |  FFT N = 4096  |  IFFT N = 2048  |  WL=16</a:t>
            </a:r>
            <a:endParaRPr lang="en-US" sz="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5B8555-9451-76E9-7DB0-ECAA32AA6F44}"/>
              </a:ext>
            </a:extLst>
          </p:cNvPr>
          <p:cNvSpPr txBox="1"/>
          <p:nvPr/>
        </p:nvSpPr>
        <p:spPr>
          <a:xfrm>
            <a:off x="402431" y="388853"/>
            <a:ext cx="4576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PYUVM Verification Topology</a:t>
            </a: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3730CD-E67D-EB18-F8D9-5A67C770C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856" y="1797844"/>
            <a:ext cx="1217877" cy="3476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CF9D2E-F511-4DB0-78D3-B0D603CC8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8387" y="2164557"/>
            <a:ext cx="86626" cy="457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F85FE5-2F07-8C8B-343D-D8A90F8C46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6709" y="335279"/>
            <a:ext cx="1475549" cy="5225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A3DCD7-38BA-227E-BF74-A6D2CFE4DF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178" y="1097402"/>
            <a:ext cx="8285644" cy="294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05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B4D8"/>
                </a:solidFill>
                <a:latin typeface="Abadi" panose="020F0502020204030204" pitchFamily="34" charset="0"/>
              </a:rPr>
              <a:t>BLACK-BOX INTERFACE &amp; ENVIRONMENT ARCHITECTURE</a:t>
            </a:r>
            <a:endParaRPr lang="en-US" sz="800" dirty="0">
              <a:latin typeface="Abad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Signals &amp; Verification Topology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5989320" cy="376843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Dir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Width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48CAE4"/>
                          </a:solidFill>
                        </a:rPr>
                        <a:t>clk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4A228"/>
                          </a:solidFill>
                        </a:rPr>
                        <a:t>Input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B8CC"/>
                          </a:solidFill>
                        </a:rPr>
                        <a:t>1-bit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System clock — Fs = 491.52 MHz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48CAE4"/>
                          </a:solidFill>
                        </a:rPr>
                        <a:t>rst_n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4A228"/>
                          </a:solidFill>
                        </a:rPr>
                        <a:t>Input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B8CC"/>
                          </a:solidFill>
                        </a:rPr>
                        <a:t>1-bit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Active-low synchronous reset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48CAE4"/>
                          </a:solidFill>
                        </a:rPr>
                        <a:t>rx_valid_in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4A228"/>
                          </a:solidFill>
                        </a:rPr>
                        <a:t>Input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B8CC"/>
                          </a:solidFill>
                        </a:rPr>
                        <a:t>1-bit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High when rx_in_re/im contains a valid sample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48CAE4"/>
                          </a:solidFill>
                        </a:rPr>
                        <a:t>rx_in_re / rx_in_im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4A228"/>
                          </a:solidFill>
                        </a:rPr>
                        <a:t>Input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B8CC"/>
                          </a:solidFill>
                        </a:rPr>
                        <a:t>16-bit each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Time-domain complex RX input (WL=16, from TX/channel)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48CAE4"/>
                          </a:solidFill>
                        </a:rPr>
                        <a:t>ref_wr_en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4A228"/>
                          </a:solidFill>
                        </a:rPr>
                        <a:t>Input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B8CC"/>
                          </a:solidFill>
                        </a:rPr>
                        <a:t>1-bit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Reference RAM write enable (from TX chirp reference)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48CAE4"/>
                          </a:solidFill>
                        </a:rPr>
                        <a:t>ref_wr_re / ref_wr_im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4A228"/>
                          </a:solidFill>
                        </a:rPr>
                        <a:t>Input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B8CC"/>
                          </a:solidFill>
                        </a:rPr>
                        <a:t>16-bit each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Reference RAM write data (WL=16)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2C39A"/>
                          </a:solidFill>
                        </a:rPr>
                        <a:t>ofdm_valid_out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</a:rPr>
                        <a:t>Output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B8CC"/>
                          </a:solidFill>
                        </a:rPr>
                        <a:t>1-bit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High when ofdm_out contains a valid OFDM sample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2C39A"/>
                          </a:solidFill>
                        </a:rPr>
                        <a:t>ofdm_out_re / ofdm_out_im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</a:rPr>
                        <a:t>Output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B8CC"/>
                          </a:solidFill>
                        </a:rPr>
                        <a:t>16-bit each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OFDM frequency-domain output (bins 0–2047)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2C39A"/>
                          </a:solidFill>
                        </a:rPr>
                        <a:t>radar_valid_out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</a:rPr>
                        <a:t>Output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B8CC"/>
                          </a:solidFill>
                        </a:rPr>
                        <a:t>1-bit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High when radar_out contains a valid range-profile sample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2C39A"/>
                          </a:solidFill>
                        </a:rPr>
                        <a:t>radar_out_re / radar_out_im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2C39A"/>
                          </a:solidFill>
                        </a:rPr>
                        <a:t>Output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B8CC"/>
                          </a:solidFill>
                        </a:rPr>
                        <a:t>16-bit each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Radar range-profile output (2048 samples per frame)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6492240" y="914400"/>
            <a:ext cx="2377440" cy="3749040"/>
          </a:xfrm>
          <a:prstGeom prst="rect">
            <a:avLst/>
          </a:prstGeom>
          <a:solidFill>
            <a:srgbClr val="0F2040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92240" y="960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B4D8"/>
                </a:solidFill>
              </a:rPr>
              <a:t>ENV TOPOLOGY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675120" y="1298448"/>
            <a:ext cx="2011680" cy="640080"/>
          </a:xfrm>
          <a:prstGeom prst="rect">
            <a:avLst/>
          </a:prstGeom>
          <a:solidFill>
            <a:srgbClr val="152850"/>
          </a:solidFill>
          <a:ln w="1016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75120" y="12984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</a:rPr>
              <a:t>Rx Top Agent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</a:rPr>
              <a:t>(Active)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675120" y="2103120"/>
            <a:ext cx="2011680" cy="640080"/>
          </a:xfrm>
          <a:prstGeom prst="rect">
            <a:avLst/>
          </a:prstGeom>
          <a:solidFill>
            <a:srgbClr val="152850"/>
          </a:solidFill>
          <a:ln w="10160">
            <a:solidFill>
              <a:srgbClr val="A8B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675120" y="2103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</a:rPr>
              <a:t>FFT Agent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</a:rPr>
              <a:t>(Passive)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675120" y="2907792"/>
            <a:ext cx="2011680" cy="640080"/>
          </a:xfrm>
          <a:prstGeom prst="rect">
            <a:avLst/>
          </a:prstGeom>
          <a:solidFill>
            <a:srgbClr val="152850"/>
          </a:solidFill>
          <a:ln w="10160">
            <a:solidFill>
              <a:srgbClr val="A8B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675120" y="29077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</a:rPr>
              <a:t>IFFT Agent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</a:rPr>
              <a:t>(Passive)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675120" y="3712464"/>
            <a:ext cx="2011680" cy="640080"/>
          </a:xfrm>
          <a:prstGeom prst="rect">
            <a:avLst/>
          </a:prstGeom>
          <a:solidFill>
            <a:srgbClr val="152850"/>
          </a:solidFill>
          <a:ln w="10160">
            <a:solidFill>
              <a:srgbClr val="F4A2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675120" y="371246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A228"/>
                </a:solidFill>
              </a:rPr>
              <a:t>Scoreboards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4A228"/>
                </a:solidFill>
              </a:rPr>
              <a:t>&amp; Subscribers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882128" y="16459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91020"/>
          </a:solidFill>
          <a:ln w="12700">
            <a:solidFill>
              <a:srgbClr val="09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</a:rPr>
              <a:t>Document ID: VPlan-RX  |  Status: DRAFT  |  Fs = 491.52 MHz  |  FFT N = 4096  |  IFFT N = 2048  |  WL=16</a:t>
            </a:r>
            <a:endParaRPr lang="en-US" sz="7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EAA5089-0F49-784B-A889-E9C1A6F03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491" y="135040"/>
            <a:ext cx="1470349" cy="532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B4D8"/>
                </a:solidFill>
              </a:rPr>
              <a:t>F E A T U R E S   T O   B E   V E R I F I E 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Observable Behaviour at ofdm_out / radar_out — No Internal Signals Referenced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24528" cy="896112"/>
          </a:xfrm>
          <a:prstGeom prst="rect">
            <a:avLst/>
          </a:prstGeom>
          <a:solidFill>
            <a:srgbClr val="0F2040"/>
          </a:solidFill>
          <a:ln w="508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4864" cy="8961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04241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CAE4"/>
                </a:solidFill>
              </a:rPr>
              <a:t>F-RX-01   Dual-Path RX Output Quality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29768" y="128016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8CC"/>
                </a:solidFill>
              </a:rPr>
              <a:t>Both OFDM and Radar outputs verified against Python golden . Simultaneous dual-path operation correctness confirmed per frame.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993392"/>
            <a:ext cx="4224528" cy="896112"/>
          </a:xfrm>
          <a:prstGeom prst="rect">
            <a:avLst/>
          </a:prstGeom>
          <a:solidFill>
            <a:srgbClr val="0F2040"/>
          </a:solidFill>
          <a:ln w="508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993392"/>
            <a:ext cx="54864" cy="8961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9768" y="202996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CAE4"/>
                </a:solidFill>
              </a:rPr>
              <a:t>F-RX-02   Conjugate Multiplier Correctness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2267712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8CC"/>
                </a:solidFill>
              </a:rPr>
              <a:t>Radar bins multiplied by conjugate of reference RAM content. Correct complex conjugate multiply (re×re + im×im → re, re×im - im×re → im) verified at radar output.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3008376"/>
            <a:ext cx="4224528" cy="896112"/>
          </a:xfrm>
          <a:prstGeom prst="rect">
            <a:avLst/>
          </a:prstGeom>
          <a:solidFill>
            <a:srgbClr val="0F2040"/>
          </a:solidFill>
          <a:ln w="508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008376"/>
            <a:ext cx="54864" cy="8961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9768" y="304495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CAE4"/>
                </a:solidFill>
              </a:rPr>
              <a:t>F-RX-03  Reset Behaviour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9768" y="3282696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8CC"/>
                </a:solidFill>
              </a:rPr>
              <a:t>rst_n forces both ofdm_out and radar_out to zero and their valid signals low. First complete frame post-reset is error-free. No residual state corruption.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09160" y="1042416"/>
            <a:ext cx="4224528" cy="896112"/>
          </a:xfrm>
          <a:prstGeom prst="rect">
            <a:avLst/>
          </a:prstGeom>
          <a:solidFill>
            <a:srgbClr val="0F2040"/>
          </a:solidFill>
          <a:ln w="508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1042416"/>
            <a:ext cx="54864" cy="8961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18888" y="107899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CAE4"/>
                </a:solidFill>
              </a:rPr>
              <a:t>F-RX-04  Output Sample Count &amp; Timing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18888" y="1316736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8CC"/>
                </a:solidFill>
              </a:rPr>
              <a:t>Exactly 2048 ofdm_valid cycles per frame. Exactly 2048 radar_valid cycles per frame. Pipeline latency is constant and deterministic across all frames.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09160" y="2029968"/>
            <a:ext cx="4224528" cy="896112"/>
          </a:xfrm>
          <a:prstGeom prst="rect">
            <a:avLst/>
          </a:prstGeom>
          <a:solidFill>
            <a:srgbClr val="0F2040"/>
          </a:solidFill>
          <a:ln w="508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09160" y="2029968"/>
            <a:ext cx="54864" cy="8961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18888" y="206654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8CAE4"/>
                </a:solidFill>
              </a:rPr>
              <a:t>F-RX-05   Frame Boundary &amp; Determinism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18888" y="230428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8CC"/>
                </a:solidFill>
              </a:rPr>
              <a:t>Last sample of frame N not corrupted by frame N+1. Bit-exact identical outputs for identical inputs across every simulation run. Long idle gaps do not corrupt subsequent frames.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82128" y="16459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91020"/>
          </a:solidFill>
          <a:ln w="12700">
            <a:solidFill>
              <a:srgbClr val="09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</a:rPr>
              <a:t>Document ID: VPlan-RX  |  Status: DRAFT  |  Fs = 491.52 MHz  |  FFT N = 4096  |  IFFT N = 2048  |  WL=16</a:t>
            </a:r>
            <a:endParaRPr lang="en-US" sz="7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2266EBF-784F-75E3-ABA6-63B8032EB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404" y="80772"/>
            <a:ext cx="1234440" cy="447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B4D8"/>
                </a:solidFill>
              </a:rPr>
              <a:t>T E S T   P L A N   O V E R V I E 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18 Black-Box Test Cases — Golden Reference: SYSTEM_builtin.m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395472"/>
              </p:ext>
            </p:extLst>
          </p:nvPr>
        </p:nvGraphicFramePr>
        <p:xfrm>
          <a:off x="320040" y="914400"/>
          <a:ext cx="8503920" cy="32004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97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Test Name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Feature(s)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Group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7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B4D8"/>
                          </a:solidFill>
                        </a:rPr>
                        <a:t>TC-RX-001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Null Input — All Zeros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4A228"/>
                          </a:solidFill>
                        </a:rPr>
                        <a:t>F-RX-05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8CAE4"/>
                          </a:solidFill>
                        </a:rPr>
                        <a:t>A — Null &amp; Boundary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7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B4D8"/>
                          </a:solidFill>
                        </a:rPr>
                        <a:t>TC-RX-002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Zero Reference, Chirp Signal In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4A228"/>
                          </a:solidFill>
                        </a:rPr>
                        <a:t>F-RX-02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8CAE4"/>
                          </a:solidFill>
                        </a:rPr>
                        <a:t>A — Null &amp; Boundary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7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B4D8"/>
                          </a:solidFill>
                        </a:rPr>
                        <a:t>TC-RX-003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OFDM-Only Input (Radar Bins = 0)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4A228"/>
                          </a:solidFill>
                        </a:rPr>
                        <a:t>F-RX-01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48CAE4"/>
                          </a:solidFill>
                        </a:rPr>
                        <a:t>A — Null &amp; Boundary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7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B4D8"/>
                          </a:solidFill>
                        </a:rPr>
                        <a:t>TC-RX-004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Pure OFDM Signal Recovery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4A228"/>
                          </a:solidFill>
                        </a:rPr>
                        <a:t>F-RX-01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2C39A"/>
                          </a:solidFill>
                        </a:rPr>
                        <a:t>B — OFDM Path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7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B4D8"/>
                          </a:solidFill>
                        </a:rPr>
                        <a:t>TC-RX-005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Mixed OFDM+Radar — OFDM Extraction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4A228"/>
                          </a:solidFill>
                        </a:rPr>
                        <a:t>F-RX-01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2C39A"/>
                          </a:solidFill>
                        </a:rPr>
                        <a:t>B — OFDM Path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7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B4D8"/>
                          </a:solidFill>
                        </a:rPr>
                        <a:t>TC-RX-006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OFDM Sample Count &amp; Valid Timing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4A228"/>
                          </a:solidFill>
                        </a:rPr>
                        <a:t>F-RX-04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2C39A"/>
                          </a:solidFill>
                        </a:rPr>
                        <a:t>B — OFDM Path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7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B4D8"/>
                          </a:solidFill>
                        </a:rPr>
                        <a:t>TC-RX-007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Radar Range Profile — Loaded Reference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4A228"/>
                          </a:solidFill>
                        </a:rPr>
                        <a:t>F-RX-01, F-RX-02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39BD3"/>
                          </a:solidFill>
                        </a:rPr>
                        <a:t>C — Radar Profile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97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B4D8"/>
                          </a:solidFill>
                        </a:rPr>
                        <a:t>TC-RX-008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Radar Sample Count per Frame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4A228"/>
                          </a:solidFill>
                        </a:rPr>
                        <a:t>F-RX-04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39BD3"/>
                          </a:solidFill>
                        </a:rPr>
                        <a:t>C — Radar Profile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97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B4D8"/>
                          </a:solidFill>
                        </a:rPr>
                        <a:t>TC-RX-009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Reset Before Input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4A228"/>
                          </a:solidFill>
                        </a:rPr>
                        <a:t>F-RX-03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7E82"/>
                          </a:solidFill>
                        </a:rPr>
                        <a:t>E — Reset &amp; Control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97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B4D8"/>
                          </a:solidFill>
                        </a:rPr>
                        <a:t>TC-RX-010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Reset Mid-Frame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4A228"/>
                          </a:solidFill>
                        </a:rPr>
                        <a:t>F-RX-03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7E82"/>
                          </a:solidFill>
                        </a:rPr>
                        <a:t>E — Reset &amp; Control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97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B4D8"/>
                          </a:solidFill>
                        </a:rPr>
                        <a:t>TC-RX-011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Multiple Consecutive Resets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4A228"/>
                          </a:solidFill>
                        </a:rPr>
                        <a:t>F-RX-03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7E82"/>
                          </a:solidFill>
                        </a:rPr>
                        <a:t>E — Reset &amp; Control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97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B4D8"/>
                          </a:solidFill>
                        </a:rPr>
                        <a:t>TC-RX-012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Back-to-Back 20 Frames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4A228"/>
                          </a:solidFill>
                        </a:rPr>
                        <a:t>F-RX-05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3946"/>
                          </a:solidFill>
                        </a:rPr>
                        <a:t>G — Regression &amp; Stress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97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B4D8"/>
                          </a:solidFill>
                        </a:rPr>
                        <a:t>TC-RX-013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Long Gap Between Frames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4A228"/>
                          </a:solidFill>
                        </a:rPr>
                        <a:t>F-RX-05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3946"/>
                          </a:solidFill>
                        </a:rPr>
                        <a:t>G — Regression &amp; Stress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97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B4D8"/>
                          </a:solidFill>
                        </a:rPr>
                        <a:t>TC-RX-014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100 Random Frames — Full Regression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4A228"/>
                          </a:solidFill>
                        </a:rPr>
                        <a:t>F-RX-01, F-RX-02, F-RX-05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63946"/>
                          </a:solidFill>
                        </a:rPr>
                        <a:t>G — Regression &amp; Stress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882128" y="16459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4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91020"/>
          </a:solidFill>
          <a:ln w="12700">
            <a:solidFill>
              <a:srgbClr val="09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</a:rPr>
              <a:t>Document ID: VPlan-RX  |  Status: DRAFT  |  Fs = 491.52 MHz  |  FFT N = 4096  |  IFFT N = 2048  |  WL=16</a:t>
            </a:r>
            <a:endParaRPr lang="en-US" sz="7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6A4C21-A31B-507A-2E53-F2F0175BD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98810"/>
            <a:ext cx="1470349" cy="532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39" y="109728"/>
            <a:ext cx="57217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B4D8"/>
                </a:solidFill>
              </a:rPr>
              <a:t>TEST CASES:GROUP A—NULL &amp; BOUNDARY / GROUP B—OFDM PATH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TC-RX-001 through TC-RX-006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33672" cy="1216152"/>
          </a:xfrm>
          <a:prstGeom prst="rect">
            <a:avLst/>
          </a:prstGeom>
          <a:solidFill>
            <a:srgbClr val="0F2040"/>
          </a:solidFill>
          <a:ln w="63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33672" cy="256032"/>
          </a:xfrm>
          <a:prstGeom prst="rect">
            <a:avLst/>
          </a:prstGeom>
          <a:solidFill>
            <a:srgbClr val="152850"/>
          </a:solidFill>
          <a:ln w="12700">
            <a:solidFill>
              <a:srgbClr val="152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41832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TC-RX-001   Null Input — All Zeros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91840" y="9601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B8CC"/>
                </a:solidFill>
              </a:rPr>
              <a:t>Feat: F-RX-05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121615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8B8CC"/>
                </a:solidFill>
              </a:rPr>
              <a:t>STIMULUS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1353312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Set rx_in_re = 0, rx_in_im = 0 for all samples. Assert rx_valid_in, capture one full frame. No reference written.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5760" y="1700784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8B8CC"/>
                </a:solidFill>
              </a:rPr>
              <a:t>EXPECTED / PASS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65760" y="1847088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2C39A"/>
                </a:solidFill>
              </a:rPr>
              <a:t>PASS: All 2048 ofdm_out samples = 0 AND all 2048 radar_out samples = 0. Both valid counts correct.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727448" y="914400"/>
            <a:ext cx="4233672" cy="1216152"/>
          </a:xfrm>
          <a:prstGeom prst="rect">
            <a:avLst/>
          </a:prstGeom>
          <a:solidFill>
            <a:srgbClr val="0F2040"/>
          </a:solidFill>
          <a:ln w="63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27448" y="914400"/>
            <a:ext cx="4233672" cy="256032"/>
          </a:xfrm>
          <a:prstGeom prst="rect">
            <a:avLst/>
          </a:prstGeom>
          <a:solidFill>
            <a:srgbClr val="152850"/>
          </a:solidFill>
          <a:ln w="12700">
            <a:solidFill>
              <a:srgbClr val="152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18888" y="941832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TC-RX-002   Zero Reference, Chirp Signal 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44968" y="9601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B8CC"/>
                </a:solidFill>
              </a:rPr>
              <a:t>Feat: F-RX-02 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818888" y="121615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8B8CC"/>
                </a:solidFill>
              </a:rPr>
              <a:t>STIMULUS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818888" y="1353312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Apply chirp-only signal (radar bins only). Reference RAM = zeros (never written). Capture radar_out.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18888" y="1700784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8B8CC"/>
                </a:solidFill>
              </a:rPr>
              <a:t>EXPECTED / PASS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818888" y="1847088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2C39A"/>
                </a:solidFill>
              </a:rPr>
              <a:t>PASS: radar_out = 0 (multiply by zero reference → zero). ofdm_out also matches MATLAB (zeros in OFDM bins).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" y="2240280"/>
            <a:ext cx="4233672" cy="1216152"/>
          </a:xfrm>
          <a:prstGeom prst="rect">
            <a:avLst/>
          </a:prstGeom>
          <a:solidFill>
            <a:srgbClr val="0F2040"/>
          </a:solidFill>
          <a:ln w="63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2240280"/>
            <a:ext cx="4233672" cy="256032"/>
          </a:xfrm>
          <a:prstGeom prst="rect">
            <a:avLst/>
          </a:prstGeom>
          <a:solidFill>
            <a:srgbClr val="152850"/>
          </a:solidFill>
          <a:ln w="12700">
            <a:solidFill>
              <a:srgbClr val="152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2267712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TC-RX-003   OFDM-Only Input (Radar Bins = 0)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91840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B8CC"/>
                </a:solidFill>
              </a:rPr>
              <a:t>Feat: F-RX-01 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65760" y="25420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8B8CC"/>
                </a:solidFill>
              </a:rPr>
              <a:t>STIMULUS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65760" y="2679192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Apply OFDM signal occupying bins 0–2047 only. Bins 2048–4095 = 0.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65760" y="3026664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8B8CC"/>
                </a:solidFill>
              </a:rPr>
              <a:t>EXPECTED / PASS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65760" y="3172968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2C39A"/>
                </a:solidFill>
              </a:rPr>
              <a:t>PASS: ofdm_out matches MATLAB golden. radar_out = 0 (zero radar bins). No cross-path contamination.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727448" y="2240280"/>
            <a:ext cx="4233672" cy="1216152"/>
          </a:xfrm>
          <a:prstGeom prst="rect">
            <a:avLst/>
          </a:prstGeom>
          <a:solidFill>
            <a:srgbClr val="0F2040"/>
          </a:solidFill>
          <a:ln w="635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27448" y="2240280"/>
            <a:ext cx="4233672" cy="256032"/>
          </a:xfrm>
          <a:prstGeom prst="rect">
            <a:avLst/>
          </a:prstGeom>
          <a:solidFill>
            <a:srgbClr val="152850"/>
          </a:solidFill>
          <a:ln w="12700">
            <a:solidFill>
              <a:srgbClr val="152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18888" y="2267712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TC-RX-004   Pure OFDM Signal Recovery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44968" y="22860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B8CC"/>
                </a:solidFill>
              </a:rPr>
              <a:t>Feat: F-RX-01 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18888" y="25420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8B8CC"/>
                </a:solidFill>
              </a:rPr>
              <a:t>STIMULUS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818888" y="2679192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Apply full 1500-subcarrier 256-QAM OFDM signal. Zero chirp reference.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18888" y="3026664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8B8CC"/>
                </a:solidFill>
              </a:rPr>
              <a:t>EXPECTED / PASS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18888" y="3172968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2C39A"/>
                </a:solidFill>
              </a:rPr>
              <a:t>PASS: Bit-exact match between ofdm_out and MATLAB python_ref (Error = 0). All 2048 OFDM samples verified.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" y="3566160"/>
            <a:ext cx="4233672" cy="1216152"/>
          </a:xfrm>
          <a:prstGeom prst="rect">
            <a:avLst/>
          </a:prstGeom>
          <a:solidFill>
            <a:srgbClr val="0F2040"/>
          </a:solidFill>
          <a:ln w="635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3566160"/>
            <a:ext cx="4233672" cy="256032"/>
          </a:xfrm>
          <a:prstGeom prst="rect">
            <a:avLst/>
          </a:prstGeom>
          <a:solidFill>
            <a:srgbClr val="152850"/>
          </a:solidFill>
          <a:ln w="12700">
            <a:solidFill>
              <a:srgbClr val="152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3593592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TC-RX-005   Mixed OFDM+Radar — OFDM Extraction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91840" y="361188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B8CC"/>
                </a:solidFill>
              </a:rPr>
              <a:t>Feat: F-RX-01 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65760" y="386791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8B8CC"/>
                </a:solidFill>
              </a:rPr>
              <a:t>STIMULUS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65760" y="4005072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Apply combined OFDM + chirp signal. Load valid chirp reference into RAM before frame.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65760" y="4352544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8B8CC"/>
                </a:solidFill>
              </a:rPr>
              <a:t>EXPECTED / PASS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65760" y="4498848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2C39A"/>
                </a:solidFill>
              </a:rPr>
              <a:t>PASS: ofdm_out independently matches MATLAB OFDM reference. radar_out independently matches MATLAB radar reference.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727448" y="3566160"/>
            <a:ext cx="4233672" cy="1216152"/>
          </a:xfrm>
          <a:prstGeom prst="rect">
            <a:avLst/>
          </a:prstGeom>
          <a:solidFill>
            <a:srgbClr val="0F2040"/>
          </a:solidFill>
          <a:ln w="635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27448" y="3566160"/>
            <a:ext cx="4233672" cy="256032"/>
          </a:xfrm>
          <a:prstGeom prst="rect">
            <a:avLst/>
          </a:prstGeom>
          <a:solidFill>
            <a:srgbClr val="152850"/>
          </a:solidFill>
          <a:ln w="12700">
            <a:solidFill>
              <a:srgbClr val="152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18888" y="3593592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TC-RX-006   OFDM Sample Count &amp; Valid Timing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744968" y="361188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B8CC"/>
                </a:solidFill>
              </a:rPr>
              <a:t>Feat: F-RX-04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818888" y="386791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8B8CC"/>
                </a:solidFill>
              </a:rPr>
              <a:t>STIMULUS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818888" y="4005072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Send one frame. Observe ofdm_valid timing relative to rx_valid_in. Verify ofdm_valid is LOW between frames.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818888" y="4352544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8B8CC"/>
                </a:solidFill>
              </a:rPr>
              <a:t>EXPECTED / PASS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818888" y="4498848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2C39A"/>
                </a:solidFill>
              </a:rPr>
              <a:t>PASS: ofdm_valid = 1 for exactly 2048 consecutive cycles. ofdm_valid = 0 between frames. Latency constant.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882128" y="16459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91020"/>
          </a:solidFill>
          <a:ln w="12700">
            <a:solidFill>
              <a:srgbClr val="09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</a:rPr>
              <a:t>Document ID: VPlan-RX  |  Status: DRAFT  |  Fs = 491.52 MHz  |  FFT N = 4096  |  IFFT N = 2048  |  WL=16</a:t>
            </a:r>
            <a:endParaRPr lang="en-US" sz="7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399C1C28-4926-FCF0-55B7-DC5D0EB3D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98810"/>
            <a:ext cx="1470349" cy="532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B4D8"/>
                </a:solidFill>
              </a:rPr>
              <a:t>T E S T   C A S E S :   G R O U P   C — R A D A R   P R O F I L E  /  G R O U P   D — R E F E R E N C E   R A 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TC-RX-007 through TC-RX-010  |  F-RX-01, F-RX-02, F-RX-04, F-RX-06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686800" cy="1828800"/>
          </a:xfrm>
          <a:prstGeom prst="rect">
            <a:avLst/>
          </a:prstGeom>
          <a:solidFill>
            <a:srgbClr val="0F2040"/>
          </a:solidFill>
          <a:ln w="7620">
            <a:solidFill>
              <a:srgbClr val="C39BD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686800" cy="274320"/>
          </a:xfrm>
          <a:prstGeom prst="rect">
            <a:avLst/>
          </a:prstGeom>
          <a:solidFill>
            <a:srgbClr val="152850"/>
          </a:solidFill>
          <a:ln w="12700">
            <a:solidFill>
              <a:srgbClr val="152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96696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39BD3"/>
                </a:solidFill>
              </a:rPr>
              <a:t>TC-RX-007   Radar Range Profile — Loaded Reference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0" y="101498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B8CC"/>
                </a:solidFill>
              </a:rPr>
              <a:t>Feat: F-RX-01, F-RX-02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128930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8B8CC"/>
                </a:solidFill>
              </a:rPr>
              <a:t>STIMULUS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1435608"/>
            <a:ext cx="4041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Pre-load 2048-entry reference RAM with TX chirp reference (from MATLAB model). Apply matching received chirp signal. Capture radar_out.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07568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8B8CC"/>
                </a:solidFill>
              </a:rPr>
              <a:t>EXPECTED / PASS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65759" y="2221992"/>
            <a:ext cx="52154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2C39A"/>
                </a:solidFill>
              </a:rPr>
              <a:t>PASS: Bit-exact match between radar_out and MATLAB range-profile golden reference (Error = 0). 2048 samples verified.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2935224"/>
            <a:ext cx="8686800" cy="1828800"/>
          </a:xfrm>
          <a:prstGeom prst="rect">
            <a:avLst/>
          </a:prstGeom>
          <a:solidFill>
            <a:srgbClr val="0F2040"/>
          </a:solidFill>
          <a:ln w="7620">
            <a:solidFill>
              <a:srgbClr val="C39BD3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935224"/>
            <a:ext cx="8686800" cy="274320"/>
          </a:xfrm>
          <a:prstGeom prst="rect">
            <a:avLst/>
          </a:prstGeom>
          <a:solidFill>
            <a:srgbClr val="152850"/>
          </a:solidFill>
          <a:ln w="12700">
            <a:solidFill>
              <a:srgbClr val="152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97180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39BD3"/>
                </a:solidFill>
              </a:rPr>
              <a:t>TC-RX-008   Radar Sample Count per Frame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29900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8B8CC"/>
                </a:solidFill>
              </a:rPr>
              <a:t>Feat: F-RX-04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5760" y="326440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8B8CC"/>
                </a:solidFill>
              </a:rPr>
              <a:t>STIMULUS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5760" y="3410712"/>
            <a:ext cx="4041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Send one frame with valid chirp. Count radar_valid pulses. Verify radar_valid = 0 between frames and during pipeline latency.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405079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8B8CC"/>
                </a:solidFill>
              </a:rPr>
              <a:t>EXPECTED / PASS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65759" y="4197096"/>
            <a:ext cx="5926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2C39A"/>
                </a:solidFill>
              </a:rPr>
              <a:t>PASS: radar_valid = 1 for exactly 2048 consecutive cycles. radar_valid = 0 between frames. Pipeline latency L constant.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882128" y="16459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91020"/>
          </a:solidFill>
          <a:ln w="12700">
            <a:solidFill>
              <a:srgbClr val="09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</a:rPr>
              <a:t>Document ID: VPlan-RX  |  Status: DRAFT  |  Fs = 491.52 MHz  |  FFT N = 4096  |  IFFT N = 2048  |  WL=16</a:t>
            </a:r>
            <a:endParaRPr lang="en-US" sz="7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E9FD033-B8CD-6FC2-EC43-A3B011451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98810"/>
            <a:ext cx="1470349" cy="532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B4D8"/>
                </a:solidFill>
              </a:rPr>
              <a:t>T E S T   C A S E S :   G R O U P   E — R E S E T   &amp;   C O N T R O 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TC-RX-011 through TC-RX-013  |  F-RX-05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8503920" cy="1188720"/>
          </a:xfrm>
          <a:prstGeom prst="rect">
            <a:avLst/>
          </a:prstGeom>
          <a:solidFill>
            <a:srgbClr val="002060"/>
          </a:solidFill>
          <a:ln w="7620">
            <a:solidFill>
              <a:srgbClr val="E67E8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274320"/>
          </a:xfrm>
          <a:prstGeom prst="rect">
            <a:avLst/>
          </a:prstGeom>
          <a:solidFill>
            <a:srgbClr val="002060"/>
          </a:solidFill>
          <a:ln w="12700">
            <a:solidFill>
              <a:srgbClr val="3A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82"/>
                </a:solidFill>
              </a:rPr>
              <a:t>TC-RX-009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02412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Reset Before Input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589520" y="104241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8CC"/>
                </a:solidFill>
              </a:rPr>
              <a:t>Feat: F-RX-03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3167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8B8CC"/>
                </a:solidFill>
              </a:rPr>
              <a:t>STIMULUS: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481328" y="1316736"/>
            <a:ext cx="7278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Assert rst_n = 0 for 10 cycles, then release. Immediately send a full frame. Capture both ofdm_out and radar_out.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68249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8B8CC"/>
                </a:solidFill>
              </a:rPr>
              <a:t>PASS: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15568" y="1682496"/>
            <a:ext cx="7644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2C39A"/>
                </a:solidFill>
              </a:rPr>
              <a:t>PASS: Both ofdm_out and radar_out = 0 during reset assertion. Subsequent full frame exactly matches MATLAB (Error = 0 on both paths).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8503920" cy="1188720"/>
          </a:xfrm>
          <a:prstGeom prst="rect">
            <a:avLst/>
          </a:prstGeom>
          <a:solidFill>
            <a:srgbClr val="002060"/>
          </a:solidFill>
          <a:ln w="7620">
            <a:solidFill>
              <a:srgbClr val="E67E8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286000"/>
            <a:ext cx="8503920" cy="274320"/>
          </a:xfrm>
          <a:prstGeom prst="rect">
            <a:avLst/>
          </a:prstGeom>
          <a:solidFill>
            <a:srgbClr val="002060"/>
          </a:solidFill>
          <a:ln w="12700">
            <a:solidFill>
              <a:srgbClr val="3A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32257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82"/>
                </a:solidFill>
              </a:rPr>
              <a:t>TC-RX-010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36192" y="232257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Reset Mid-Frame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89520" y="23408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8CC"/>
                </a:solidFill>
              </a:rPr>
              <a:t>Feat: F-RX-03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261518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8B8CC"/>
                </a:solidFill>
              </a:rPr>
              <a:t>STIMULUS: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481328" y="2615184"/>
            <a:ext cx="7278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Start a frame. Assert rst_n = 0 after exactly 2048 samples (mid-pipeline). Release reset. Send a new complete frame.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29809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8B8CC"/>
                </a:solidFill>
              </a:rPr>
              <a:t>PASS: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15568" y="2980944"/>
            <a:ext cx="7644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2C39A"/>
                </a:solidFill>
              </a:rPr>
              <a:t>PASS: Both outputs go to 0 immediately on reset assertion. New complete frame (post-reset) exactly matches MATLAB reference (Error = 0).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584448"/>
            <a:ext cx="8503920" cy="1188720"/>
          </a:xfrm>
          <a:prstGeom prst="rect">
            <a:avLst/>
          </a:prstGeom>
          <a:solidFill>
            <a:srgbClr val="002060"/>
          </a:solidFill>
          <a:ln w="7620">
            <a:solidFill>
              <a:srgbClr val="E67E82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3584448"/>
            <a:ext cx="8503920" cy="274320"/>
          </a:xfrm>
          <a:prstGeom prst="rect">
            <a:avLst/>
          </a:prstGeom>
          <a:solidFill>
            <a:srgbClr val="002060"/>
          </a:solidFill>
          <a:ln w="12700">
            <a:solidFill>
              <a:srgbClr val="3A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62102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82"/>
                </a:solidFill>
              </a:rPr>
              <a:t>TC-RX-011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36192" y="362102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Multiple Consecutive Resets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89520" y="36393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B8CC"/>
                </a:solidFill>
              </a:rPr>
              <a:t>Feat: F-RX-03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3913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8B8CC"/>
                </a:solidFill>
              </a:rPr>
              <a:t>STIMULUS: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481328" y="3913632"/>
            <a:ext cx="7278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Assert and release rst_n 5 times consecutively with no frames in between. Then send one complete frame.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42793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8B8CC"/>
                </a:solidFill>
              </a:rPr>
              <a:t>PASS: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15568" y="4279392"/>
            <a:ext cx="7644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2C39A"/>
                </a:solidFill>
              </a:rPr>
              <a:t>PASS: No accumulated pipeline state corruption from repeated resets. Output frame exactly matches MATLAB reference (Error = 0). Both ofdm_valid and radar_valid behave correctly.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4800600"/>
            <a:ext cx="8503920" cy="146304"/>
          </a:xfrm>
          <a:prstGeom prst="rect">
            <a:avLst/>
          </a:prstGeom>
          <a:solidFill>
            <a:srgbClr val="152850"/>
          </a:solidFill>
          <a:ln w="12700">
            <a:solidFill>
              <a:srgbClr val="152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4809744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8B8CC"/>
                </a:solidFill>
              </a:rPr>
              <a:t>SVA Reference — ASS-01: rst_n == 0 |-&gt; ofdm_out == 0 &amp;&amp; radar_out == 0 &amp;&amp; ofdm_valid == 0 &amp;&amp; radar_valid == 0 (all cycles)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882128" y="16459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91020"/>
          </a:solidFill>
          <a:ln w="12700">
            <a:solidFill>
              <a:srgbClr val="09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</a:rPr>
              <a:t>Document ID: VPlan-RX  |  Status: DRAFT  |  Fs = 491.52 MHz  |  FFT N = 4096  |  IFFT N = 2048  |  WL=16</a:t>
            </a:r>
            <a:endParaRPr lang="en-US" sz="7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1E4A209-511D-2D2B-BE46-7AC2EE290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28016"/>
            <a:ext cx="1470349" cy="532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B4D8"/>
                </a:solidFill>
              </a:rPr>
              <a:t>T E S T   C A S E S :   G R O U P   F — D E M U X   B O U N D A R Y  /  G R O U P   G — R E G R E S S I O N   &amp;   S T R E S 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TC-RX-014 through TC-RX-018  |  F-RX-03, F-RX-07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38328" y="859882"/>
            <a:ext cx="4233672" cy="1325880"/>
          </a:xfrm>
          <a:prstGeom prst="rect">
            <a:avLst/>
          </a:prstGeom>
          <a:solidFill>
            <a:srgbClr val="0A1E30"/>
          </a:solidFill>
          <a:ln w="6350">
            <a:solidFill>
              <a:srgbClr val="F4A22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8328" y="859882"/>
            <a:ext cx="4233672" cy="256032"/>
          </a:xfrm>
          <a:prstGeom prst="rect">
            <a:avLst/>
          </a:prstGeom>
          <a:solidFill>
            <a:srgbClr val="152850"/>
          </a:solidFill>
          <a:ln w="12700">
            <a:solidFill>
              <a:srgbClr val="152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9768" y="887314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28"/>
                </a:solidFill>
              </a:rPr>
              <a:t>TC-RX-012   Back-to-Back 20 Frames — No Gaps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896458"/>
            <a:ext cx="1078992" cy="201168"/>
          </a:xfrm>
          <a:prstGeom prst="rect">
            <a:avLst/>
          </a:prstGeom>
          <a:solidFill>
            <a:srgbClr val="000000">
              <a:alpha val="40000"/>
            </a:srgbClr>
          </a:solidFill>
          <a:ln w="6350">
            <a:solidFill>
              <a:srgbClr val="F4A2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83280" y="89645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4A228"/>
                </a:solidFill>
              </a:rPr>
              <a:t>HIGH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29768" y="116163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8B8CC"/>
                </a:solidFill>
              </a:rPr>
              <a:t>STIMULUS: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344168" y="1161634"/>
            <a:ext cx="3136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Transmit 20 consecutive frames with zero idle cycles. Each frame uses a unique random 256-QAM seed and chirp sequence.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29768" y="1545682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8B8CC"/>
                </a:solidFill>
              </a:rPr>
              <a:t>PASS: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069848" y="1545682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2C39A"/>
                </a:solidFill>
              </a:rPr>
              <a:t>PASS: 0 errors across all 20 × 2048 = 40,960 ofdm samples AND all 20 × 2048 = 40,960 radar samples vs MATLAB.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791456" y="859882"/>
            <a:ext cx="4233672" cy="1325880"/>
          </a:xfrm>
          <a:prstGeom prst="rect">
            <a:avLst/>
          </a:prstGeom>
          <a:solidFill>
            <a:srgbClr val="0A1E30"/>
          </a:solidFill>
          <a:ln w="6350">
            <a:solidFill>
              <a:srgbClr val="F4A22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91456" y="859882"/>
            <a:ext cx="4233672" cy="256032"/>
          </a:xfrm>
          <a:prstGeom prst="rect">
            <a:avLst/>
          </a:prstGeom>
          <a:solidFill>
            <a:srgbClr val="152850"/>
          </a:solidFill>
          <a:ln w="12700">
            <a:solidFill>
              <a:srgbClr val="152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82896" y="887314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28"/>
                </a:solidFill>
              </a:rPr>
              <a:t>TC-RX-013   Long Gap Between Frames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836408" y="896458"/>
            <a:ext cx="1078992" cy="201168"/>
          </a:xfrm>
          <a:prstGeom prst="rect">
            <a:avLst/>
          </a:prstGeom>
          <a:solidFill>
            <a:srgbClr val="000000">
              <a:alpha val="40000"/>
            </a:srgbClr>
          </a:solidFill>
          <a:ln w="6350">
            <a:solidFill>
              <a:srgbClr val="F4A2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836408" y="89645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4A228"/>
                </a:solidFill>
              </a:rPr>
              <a:t>MED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82896" y="116163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8B8CC"/>
                </a:solidFill>
              </a:rPr>
              <a:t>STIMULUS: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797296" y="1161634"/>
            <a:ext cx="3136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Send frame 1. Insert 10,000 idle cycles (rx_valid_in = 0). Send frame 2 with different stimulus.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82896" y="1545682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8B8CC"/>
                </a:solidFill>
              </a:rPr>
              <a:t>PASS: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522976" y="1545682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2C39A"/>
                </a:solidFill>
              </a:rPr>
              <a:t>PASS: Frame 2 outputs exactly match MATLAB reference (Error = 0). No stale pipeline state from frame 1 on either path.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38328" y="2322921"/>
            <a:ext cx="8595360" cy="1069849"/>
          </a:xfrm>
          <a:prstGeom prst="rect">
            <a:avLst/>
          </a:prstGeom>
          <a:solidFill>
            <a:srgbClr val="0A1E30"/>
          </a:solidFill>
          <a:ln w="12700">
            <a:solidFill>
              <a:srgbClr val="E6394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38328" y="2322922"/>
            <a:ext cx="8595360" cy="256032"/>
          </a:xfrm>
          <a:prstGeom prst="rect">
            <a:avLst/>
          </a:prstGeom>
          <a:solidFill>
            <a:srgbClr val="152850"/>
          </a:solidFill>
          <a:ln w="12700">
            <a:solidFill>
              <a:srgbClr val="152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29768" y="235035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3644"/>
                </a:solidFill>
              </a:rPr>
              <a:t>TC-RX-014   100 Random Frames — Full Regression</a:t>
            </a:r>
            <a:endParaRPr lang="en-US" sz="900" dirty="0">
              <a:solidFill>
                <a:srgbClr val="D93644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744968" y="2359498"/>
            <a:ext cx="1078992" cy="201168"/>
          </a:xfrm>
          <a:prstGeom prst="rect">
            <a:avLst/>
          </a:prstGeom>
          <a:solidFill>
            <a:srgbClr val="000000">
              <a:alpha val="40000"/>
            </a:srgbClr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744968" y="235949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63946"/>
                </a:solidFill>
              </a:rPr>
              <a:t>CRITICAL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29768" y="262467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8B8CC"/>
                </a:solidFill>
              </a:rPr>
              <a:t>STIMULUS: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344168" y="262467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Run 100 frames with fully constrained-random rx_in sequences and ref_wr data (unique seed per frame). Mix OFDM-only, radar-only, and dual-band frames.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29768" y="3008722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A8B8CC"/>
                </a:solidFill>
              </a:rPr>
              <a:t>PASS: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941832" y="28163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2C39A"/>
                </a:solidFill>
              </a:rPr>
              <a:t>PASS: 0 total mismatch errors across all 100 × 4096 = 409,600 samples on both ofdm_out and radar_out vs MATLAB model.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882128" y="16459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91020"/>
          </a:solidFill>
          <a:ln w="12700">
            <a:solidFill>
              <a:srgbClr val="09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</a:rPr>
              <a:t>Document ID: VPlan-RX  |  Status: DRAFT  |  Fs = 491.52 MHz  |  FFT N = 4096  |  IFFT N = 2048  |  WL=16</a:t>
            </a:r>
            <a:endParaRPr lang="en-US" sz="7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78383854-3C9A-0118-A6CF-2EBA9881C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98810"/>
            <a:ext cx="1470349" cy="532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B4D8"/>
                </a:solidFill>
              </a:rPr>
              <a:t>C O V E R A G E   P L A 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Code Coverage Targets &amp; Functional Coverage Groups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4023360" cy="3520440"/>
          </a:xfrm>
          <a:prstGeom prst="rect">
            <a:avLst/>
          </a:prstGeom>
          <a:solidFill>
            <a:srgbClr val="0F2040"/>
          </a:solidFill>
          <a:ln w="508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 Coverage Targets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" y="1335024"/>
            <a:ext cx="1719072" cy="1481328"/>
          </a:xfrm>
          <a:prstGeom prst="rect">
            <a:avLst/>
          </a:prstGeom>
          <a:solidFill>
            <a:srgbClr val="152850"/>
          </a:solidFill>
          <a:ln w="1524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536192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</a:rPr>
              <a:t>100%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75488" y="215798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Statement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241401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8CC"/>
                </a:solidFill>
              </a:rPr>
              <a:t>Every RTL line executed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77440" y="1335024"/>
            <a:ext cx="1719072" cy="1481328"/>
          </a:xfrm>
          <a:prstGeom prst="rect">
            <a:avLst/>
          </a:prstGeom>
          <a:solidFill>
            <a:srgbClr val="152850"/>
          </a:solidFill>
          <a:ln w="1524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77440" y="1536192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</a:rPr>
              <a:t>95%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377440" y="215798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Branch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77440" y="241401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8CC"/>
                </a:solidFill>
              </a:rPr>
              <a:t>Both conditional outcomes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75488" y="2969768"/>
            <a:ext cx="1719072" cy="1367536"/>
          </a:xfrm>
          <a:prstGeom prst="rect">
            <a:avLst/>
          </a:prstGeom>
          <a:solidFill>
            <a:srgbClr val="152850"/>
          </a:solidFill>
          <a:ln w="1524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3182112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</a:rPr>
              <a:t>100%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5488" y="380390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Toggle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405993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8CC"/>
                </a:solidFill>
              </a:rPr>
              <a:t>Every bit 0→1 and 1→0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377440" y="2967397"/>
            <a:ext cx="1719072" cy="1367536"/>
          </a:xfrm>
          <a:prstGeom prst="rect">
            <a:avLst/>
          </a:prstGeom>
          <a:solidFill>
            <a:srgbClr val="152850"/>
          </a:solidFill>
          <a:ln w="1524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77440" y="3182112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</a:rPr>
              <a:t>95%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2377440" y="380390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Expression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77440" y="405993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8CC"/>
                </a:solidFill>
              </a:rPr>
              <a:t>Boolean sub-expression combos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26280" y="896112"/>
            <a:ext cx="4315968" cy="3520440"/>
          </a:xfrm>
          <a:prstGeom prst="rect">
            <a:avLst/>
          </a:prstGeom>
          <a:solidFill>
            <a:srgbClr val="0F2040"/>
          </a:solidFill>
          <a:ln w="508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960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Functional Coverage Goals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13350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CAE4"/>
                </a:solidFill>
              </a:rPr>
              <a:t>COV_PATH: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63440" y="15361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8CC"/>
                </a:solidFill>
              </a:rPr>
              <a:t>All 4 bins (OFDM-only, Radar-only, Dual, Null) ≥ 100 hits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1746504"/>
            <a:ext cx="40233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0" y="19293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CAE4"/>
                </a:solidFill>
              </a:rPr>
              <a:t>COV_REF: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63440" y="21305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8CC"/>
                </a:solidFill>
              </a:rPr>
              <a:t>Both ref states (loaded vs zero) ≥ 200 hits each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2340864"/>
            <a:ext cx="40233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63440" y="25237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CAE4"/>
                </a:solidFill>
              </a:rPr>
              <a:t>COV_BIN: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63440" y="272491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8CC"/>
                </a:solidFill>
              </a:rPr>
              <a:t>Boundary bins (0, 2047, 2048, 4095) each ≥ 50 hits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63440" y="2935224"/>
            <a:ext cx="40233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63440" y="31181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CAE4"/>
                </a:solidFill>
              </a:rPr>
              <a:t>COV_RST: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63440" y="33192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8CC"/>
                </a:solidFill>
              </a:rPr>
              <a:t>All 5 reset scenarios ≥ 20 hits each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3529584"/>
            <a:ext cx="40233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63440" y="37124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8CAE4"/>
                </a:solidFill>
              </a:rPr>
              <a:t>COV_FRAME: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63440" y="39136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8CC"/>
                </a:solidFill>
              </a:rPr>
              <a:t>All 3 gap durations (0, short, long) ≥ 50 hits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4123944"/>
            <a:ext cx="40233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20040" y="4572000"/>
            <a:ext cx="8522208" cy="256032"/>
          </a:xfrm>
          <a:prstGeom prst="rect">
            <a:avLst/>
          </a:prstGeom>
          <a:solidFill>
            <a:srgbClr val="152850"/>
          </a:solidFill>
          <a:ln w="12700">
            <a:solidFill>
              <a:srgbClr val="1528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45902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8CC"/>
                </a:solidFill>
              </a:rPr>
              <a:t>Final Phase 2 Verification Sign-Off Dashboard  —  All coverage goals must be met before Phase 3 integration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882128" y="16459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91020"/>
          </a:solidFill>
          <a:ln w="12700">
            <a:solidFill>
              <a:srgbClr val="09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</a:rPr>
              <a:t>Document ID: VPlan-RX  |  Status: DRAFT  |  Fs = 491.52 MHz  |  FFT N = 4096  |  IFFT N = 2048  |  WL=16</a:t>
            </a:r>
            <a:endParaRPr lang="en-US" sz="7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8E6F1ABB-79EC-1107-9E45-74F2E50D7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474" y="98809"/>
            <a:ext cx="1570395" cy="56870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B4D8"/>
                </a:solidFill>
              </a:rPr>
              <a:t>VERIFICATION ROAD 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474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Phase Roadmap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761680" y="923544"/>
            <a:ext cx="2743200" cy="2633472"/>
          </a:xfrm>
          <a:prstGeom prst="rect">
            <a:avLst/>
          </a:prstGeom>
          <a:solidFill>
            <a:srgbClr val="1A2A3A"/>
          </a:solidFill>
          <a:ln w="6350">
            <a:solidFill>
              <a:srgbClr val="A8B8C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61680" y="923544"/>
            <a:ext cx="2743200" cy="320040"/>
          </a:xfrm>
          <a:prstGeom prst="rect">
            <a:avLst/>
          </a:prstGeom>
          <a:solidFill>
            <a:srgbClr val="A8B8CC"/>
          </a:solidFill>
          <a:ln w="12700">
            <a:solidFill>
              <a:srgbClr val="A8B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61680" y="941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1  (DONE)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5312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B8CC"/>
                </a:solidFill>
              </a:rPr>
              <a:t>TX Path Verification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98840" y="17830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Black-box TX wrapper · 14 test cases · Single active agent vs Python golden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42040" y="923544"/>
            <a:ext cx="2743200" cy="2633472"/>
          </a:xfrm>
          <a:prstGeom prst="rect">
            <a:avLst/>
          </a:prstGeom>
          <a:solidFill>
            <a:srgbClr val="152850"/>
          </a:solidFill>
          <a:ln w="1524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42040" y="923544"/>
            <a:ext cx="27432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42040" y="941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</a:rPr>
              <a:t>Phase 2  (CURRENT)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3348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RX Path Verification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79200" y="17830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Black-box RX wrapper · 18 test cases · PUVM topology · Dual-output verification vs Python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8076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72200" y="24871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944368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8912" y="481888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882128" y="16459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91020"/>
          </a:solidFill>
          <a:ln w="12700">
            <a:solidFill>
              <a:srgbClr val="09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</a:rPr>
              <a:t>Document ID: VPlan-RX  |  Status: DRAFT  |  Fs = 491.52 MHz  |  FFT N = 4096  |  IFFT N = 2048  |  WL=16</a:t>
            </a:r>
            <a:endParaRPr lang="en-US" sz="7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315E2B6-B132-C9E1-16AD-BD5DA2DED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474" y="98809"/>
            <a:ext cx="1570395" cy="5687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2584</Words>
  <Application>Microsoft Office PowerPoint</Application>
  <PresentationFormat>On-screen Show (16:9)</PresentationFormat>
  <Paragraphs>357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Abadi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RX Path Verification Plan</dc:title>
  <dc:subject>PptxGenJS Presentation</dc:subject>
  <dc:creator>PptxGenJS</dc:creator>
  <cp:lastModifiedBy>Ahmed Hossam rafik algamal 2101209</cp:lastModifiedBy>
  <cp:revision>6</cp:revision>
  <dcterms:created xsi:type="dcterms:W3CDTF">2026-05-03T11:30:13Z</dcterms:created>
  <dcterms:modified xsi:type="dcterms:W3CDTF">2026-05-03T15:11:03Z</dcterms:modified>
</cp:coreProperties>
</file>