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78" r:id="rId4"/>
    <p:sldId id="258" r:id="rId5"/>
    <p:sldId id="261" r:id="rId6"/>
    <p:sldId id="307" r:id="rId7"/>
    <p:sldId id="280" r:id="rId8"/>
    <p:sldId id="310" r:id="rId9"/>
    <p:sldId id="309" r:id="rId10"/>
    <p:sldId id="311" r:id="rId11"/>
    <p:sldId id="312" r:id="rId12"/>
    <p:sldId id="294" r:id="rId13"/>
    <p:sldId id="295" r:id="rId14"/>
    <p:sldId id="301"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FD5B1AAA-AE40-452C-BB85-A582C1D8CD1E}">
          <p14:sldIdLst/>
        </p14:section>
        <p14:section name="Untitled Section" id="{A0E024FC-43F1-471A-8D22-E51AB36128F8}">
          <p14:sldIdLst>
            <p14:sldId id="256"/>
            <p14:sldId id="257"/>
            <p14:sldId id="278"/>
            <p14:sldId id="258"/>
            <p14:sldId id="261"/>
            <p14:sldId id="307"/>
            <p14:sldId id="280"/>
            <p14:sldId id="310"/>
            <p14:sldId id="309"/>
            <p14:sldId id="311"/>
            <p14:sldId id="312"/>
            <p14:sldId id="294"/>
            <p14:sldId id="295"/>
            <p14:sldId id="30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0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173" autoAdjust="0"/>
    <p:restoredTop sz="93659" autoAdjust="0"/>
  </p:normalViewPr>
  <p:slideViewPr>
    <p:cSldViewPr snapToGrid="0">
      <p:cViewPr varScale="1">
        <p:scale>
          <a:sx n="100" d="100"/>
          <a:sy n="100" d="100"/>
        </p:scale>
        <p:origin x="1152"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95756A-3E41-4F12-9152-47678E65A4CA}" type="datetimeFigureOut">
              <a:rPr lang="en-US" smtClean="0"/>
              <a:t>2/26/2026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807F9A-AC58-4287-BA5D-0FF77B7042AB}" type="slidenum">
              <a:rPr lang="en-US" smtClean="0"/>
              <a:t>‹#›</a:t>
            </a:fld>
            <a:endParaRPr lang="en-US"/>
          </a:p>
        </p:txBody>
      </p:sp>
    </p:spTree>
    <p:extLst>
      <p:ext uri="{BB962C8B-B14F-4D97-AF65-F5344CB8AC3E}">
        <p14:creationId xmlns:p14="http://schemas.microsoft.com/office/powerpoint/2010/main" val="26418594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807F9A-AC58-4287-BA5D-0FF77B7042AB}" type="slidenum">
              <a:rPr lang="en-US" smtClean="0"/>
              <a:t>2</a:t>
            </a:fld>
            <a:endParaRPr lang="en-US"/>
          </a:p>
        </p:txBody>
      </p:sp>
    </p:spTree>
    <p:extLst>
      <p:ext uri="{BB962C8B-B14F-4D97-AF65-F5344CB8AC3E}">
        <p14:creationId xmlns:p14="http://schemas.microsoft.com/office/powerpoint/2010/main" val="36023468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53D7C8-FAFF-D167-4594-63AF1CF635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FBFEAB-C861-711C-B618-40E7EAE4F8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BCA621-2778-A180-C7A9-19595A400BC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65BA2DD-CB06-C1DF-D04E-51812B3A891B}"/>
              </a:ext>
            </a:extLst>
          </p:cNvPr>
          <p:cNvSpPr>
            <a:spLocks noGrp="1"/>
          </p:cNvSpPr>
          <p:nvPr>
            <p:ph type="sldNum" sz="quarter" idx="5"/>
          </p:nvPr>
        </p:nvSpPr>
        <p:spPr/>
        <p:txBody>
          <a:bodyPr/>
          <a:lstStyle/>
          <a:p>
            <a:fld id="{DB807F9A-AC58-4287-BA5D-0FF77B7042AB}" type="slidenum">
              <a:rPr lang="en-US" smtClean="0"/>
              <a:t>3</a:t>
            </a:fld>
            <a:endParaRPr lang="en-US"/>
          </a:p>
        </p:txBody>
      </p:sp>
    </p:spTree>
    <p:extLst>
      <p:ext uri="{BB962C8B-B14F-4D97-AF65-F5344CB8AC3E}">
        <p14:creationId xmlns:p14="http://schemas.microsoft.com/office/powerpoint/2010/main" val="21802225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F0236-64BE-CFB6-FB23-727AE8D28B2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4F18DB5-2531-AD00-976A-C4E02BD1130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5E31EEB-EB3A-DE71-948B-7349223D6A61}"/>
              </a:ext>
            </a:extLst>
          </p:cNvPr>
          <p:cNvSpPr>
            <a:spLocks noGrp="1"/>
          </p:cNvSpPr>
          <p:nvPr>
            <p:ph type="dt" sz="half" idx="10"/>
          </p:nvPr>
        </p:nvSpPr>
        <p:spPr/>
        <p:txBody>
          <a:bodyPr/>
          <a:lstStyle/>
          <a:p>
            <a:fld id="{99FCC200-671D-4C41-B3EB-5F90A3022967}" type="datetimeFigureOut">
              <a:rPr lang="en-US" smtClean="0"/>
              <a:t>2/26/2026</a:t>
            </a:fld>
            <a:endParaRPr lang="en-US"/>
          </a:p>
        </p:txBody>
      </p:sp>
      <p:sp>
        <p:nvSpPr>
          <p:cNvPr id="5" name="Footer Placeholder 4">
            <a:extLst>
              <a:ext uri="{FF2B5EF4-FFF2-40B4-BE49-F238E27FC236}">
                <a16:creationId xmlns:a16="http://schemas.microsoft.com/office/drawing/2014/main" id="{B63E12EA-4EB1-7064-1257-415925D13C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C7C991-810A-B583-8E4C-BF0DB830E605}"/>
              </a:ext>
            </a:extLst>
          </p:cNvPr>
          <p:cNvSpPr>
            <a:spLocks noGrp="1"/>
          </p:cNvSpPr>
          <p:nvPr>
            <p:ph type="sldNum" sz="quarter" idx="12"/>
          </p:nvPr>
        </p:nvSpPr>
        <p:spPr/>
        <p:txBody>
          <a:bodyPr/>
          <a:lstStyle/>
          <a:p>
            <a:fld id="{82428F0C-7A9D-4527-BC28-6CDB19FABEB8}" type="slidenum">
              <a:rPr lang="en-US" smtClean="0"/>
              <a:t>‹#›</a:t>
            </a:fld>
            <a:endParaRPr lang="en-US"/>
          </a:p>
        </p:txBody>
      </p:sp>
    </p:spTree>
    <p:extLst>
      <p:ext uri="{BB962C8B-B14F-4D97-AF65-F5344CB8AC3E}">
        <p14:creationId xmlns:p14="http://schemas.microsoft.com/office/powerpoint/2010/main" val="34627257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6729E-47AF-E288-078E-5841ED86A7D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F7AD0E6-39DA-4443-6123-765EFE39D51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BA2FA4-DE94-3580-73ED-4EB9C998ACE1}"/>
              </a:ext>
            </a:extLst>
          </p:cNvPr>
          <p:cNvSpPr>
            <a:spLocks noGrp="1"/>
          </p:cNvSpPr>
          <p:nvPr>
            <p:ph type="dt" sz="half" idx="10"/>
          </p:nvPr>
        </p:nvSpPr>
        <p:spPr/>
        <p:txBody>
          <a:bodyPr/>
          <a:lstStyle/>
          <a:p>
            <a:fld id="{99FCC200-671D-4C41-B3EB-5F90A3022967}" type="datetimeFigureOut">
              <a:rPr lang="en-US" smtClean="0"/>
              <a:t>2/26/2026</a:t>
            </a:fld>
            <a:endParaRPr lang="en-US"/>
          </a:p>
        </p:txBody>
      </p:sp>
      <p:sp>
        <p:nvSpPr>
          <p:cNvPr id="5" name="Footer Placeholder 4">
            <a:extLst>
              <a:ext uri="{FF2B5EF4-FFF2-40B4-BE49-F238E27FC236}">
                <a16:creationId xmlns:a16="http://schemas.microsoft.com/office/drawing/2014/main" id="{FF845DE0-0BB6-9694-99C7-9737E46618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CF664A-CF9F-69BF-842C-3E41411BDD60}"/>
              </a:ext>
            </a:extLst>
          </p:cNvPr>
          <p:cNvSpPr>
            <a:spLocks noGrp="1"/>
          </p:cNvSpPr>
          <p:nvPr>
            <p:ph type="sldNum" sz="quarter" idx="12"/>
          </p:nvPr>
        </p:nvSpPr>
        <p:spPr/>
        <p:txBody>
          <a:bodyPr/>
          <a:lstStyle/>
          <a:p>
            <a:fld id="{82428F0C-7A9D-4527-BC28-6CDB19FABEB8}" type="slidenum">
              <a:rPr lang="en-US" smtClean="0"/>
              <a:t>‹#›</a:t>
            </a:fld>
            <a:endParaRPr lang="en-US"/>
          </a:p>
        </p:txBody>
      </p:sp>
    </p:spTree>
    <p:extLst>
      <p:ext uri="{BB962C8B-B14F-4D97-AF65-F5344CB8AC3E}">
        <p14:creationId xmlns:p14="http://schemas.microsoft.com/office/powerpoint/2010/main" val="4072702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A76CB-1CC5-CD38-5FA0-73CF316FB54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16EE4B7-7AF9-0CAC-9139-191A7BFFC3C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C1B6C4E-59DA-7011-C584-DF41CC42A016}"/>
              </a:ext>
            </a:extLst>
          </p:cNvPr>
          <p:cNvSpPr>
            <a:spLocks noGrp="1"/>
          </p:cNvSpPr>
          <p:nvPr>
            <p:ph type="dt" sz="half" idx="10"/>
          </p:nvPr>
        </p:nvSpPr>
        <p:spPr/>
        <p:txBody>
          <a:bodyPr/>
          <a:lstStyle/>
          <a:p>
            <a:fld id="{99FCC200-671D-4C41-B3EB-5F90A3022967}" type="datetimeFigureOut">
              <a:rPr lang="en-US" smtClean="0"/>
              <a:t>2/26/2026</a:t>
            </a:fld>
            <a:endParaRPr lang="en-US"/>
          </a:p>
        </p:txBody>
      </p:sp>
      <p:sp>
        <p:nvSpPr>
          <p:cNvPr id="5" name="Footer Placeholder 4">
            <a:extLst>
              <a:ext uri="{FF2B5EF4-FFF2-40B4-BE49-F238E27FC236}">
                <a16:creationId xmlns:a16="http://schemas.microsoft.com/office/drawing/2014/main" id="{608A4EDF-DDE4-0D88-122A-D7AF0C0797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C8189C-1287-D010-2FEA-98524D1DBC88}"/>
              </a:ext>
            </a:extLst>
          </p:cNvPr>
          <p:cNvSpPr>
            <a:spLocks noGrp="1"/>
          </p:cNvSpPr>
          <p:nvPr>
            <p:ph type="sldNum" sz="quarter" idx="12"/>
          </p:nvPr>
        </p:nvSpPr>
        <p:spPr/>
        <p:txBody>
          <a:bodyPr/>
          <a:lstStyle/>
          <a:p>
            <a:fld id="{82428F0C-7A9D-4527-BC28-6CDB19FABEB8}" type="slidenum">
              <a:rPr lang="en-US" smtClean="0"/>
              <a:t>‹#›</a:t>
            </a:fld>
            <a:endParaRPr lang="en-US"/>
          </a:p>
        </p:txBody>
      </p:sp>
    </p:spTree>
    <p:extLst>
      <p:ext uri="{BB962C8B-B14F-4D97-AF65-F5344CB8AC3E}">
        <p14:creationId xmlns:p14="http://schemas.microsoft.com/office/powerpoint/2010/main" val="21255544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32C8E-EE6C-A20A-96F4-7FA27734057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E18A354-ECDB-F66B-C8AF-38563F09659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DAC5CF5-4463-3B97-3AF6-6728BEA55E3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C9B0222-5257-EF21-C313-D7DEBC39D478}"/>
              </a:ext>
            </a:extLst>
          </p:cNvPr>
          <p:cNvSpPr>
            <a:spLocks noGrp="1"/>
          </p:cNvSpPr>
          <p:nvPr>
            <p:ph type="dt" sz="half" idx="10"/>
          </p:nvPr>
        </p:nvSpPr>
        <p:spPr/>
        <p:txBody>
          <a:bodyPr/>
          <a:lstStyle/>
          <a:p>
            <a:fld id="{99FCC200-671D-4C41-B3EB-5F90A3022967}" type="datetimeFigureOut">
              <a:rPr lang="en-US" smtClean="0"/>
              <a:t>2/26/2026</a:t>
            </a:fld>
            <a:endParaRPr lang="en-US"/>
          </a:p>
        </p:txBody>
      </p:sp>
      <p:sp>
        <p:nvSpPr>
          <p:cNvPr id="6" name="Footer Placeholder 5">
            <a:extLst>
              <a:ext uri="{FF2B5EF4-FFF2-40B4-BE49-F238E27FC236}">
                <a16:creationId xmlns:a16="http://schemas.microsoft.com/office/drawing/2014/main" id="{2A78152F-3E5B-18DC-F2EA-7BFD4AE70F0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DF0440A-465F-F5F5-FC4E-5A2D5FD985D6}"/>
              </a:ext>
            </a:extLst>
          </p:cNvPr>
          <p:cNvSpPr>
            <a:spLocks noGrp="1"/>
          </p:cNvSpPr>
          <p:nvPr>
            <p:ph type="sldNum" sz="quarter" idx="12"/>
          </p:nvPr>
        </p:nvSpPr>
        <p:spPr/>
        <p:txBody>
          <a:bodyPr/>
          <a:lstStyle/>
          <a:p>
            <a:fld id="{82428F0C-7A9D-4527-BC28-6CDB19FABEB8}" type="slidenum">
              <a:rPr lang="en-US" smtClean="0"/>
              <a:t>‹#›</a:t>
            </a:fld>
            <a:endParaRPr lang="en-US"/>
          </a:p>
        </p:txBody>
      </p:sp>
    </p:spTree>
    <p:extLst>
      <p:ext uri="{BB962C8B-B14F-4D97-AF65-F5344CB8AC3E}">
        <p14:creationId xmlns:p14="http://schemas.microsoft.com/office/powerpoint/2010/main" val="603652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BD229-AEF3-AB03-8D47-12641C41BE6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EDCBB7B-5F13-C2FD-B667-83C285864AA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D323AF8-3C2D-7087-64B4-F0219E7027E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EBB1545-4336-D24E-F444-AFFFA92B00A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340203D-E967-EA24-65A9-20A9F9F9178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9B758D2-5153-9A16-5D4E-3051748E9774}"/>
              </a:ext>
            </a:extLst>
          </p:cNvPr>
          <p:cNvSpPr>
            <a:spLocks noGrp="1"/>
          </p:cNvSpPr>
          <p:nvPr>
            <p:ph type="dt" sz="half" idx="10"/>
          </p:nvPr>
        </p:nvSpPr>
        <p:spPr/>
        <p:txBody>
          <a:bodyPr/>
          <a:lstStyle/>
          <a:p>
            <a:fld id="{99FCC200-671D-4C41-B3EB-5F90A3022967}" type="datetimeFigureOut">
              <a:rPr lang="en-US" smtClean="0"/>
              <a:t>2/26/2026</a:t>
            </a:fld>
            <a:endParaRPr lang="en-US"/>
          </a:p>
        </p:txBody>
      </p:sp>
      <p:sp>
        <p:nvSpPr>
          <p:cNvPr id="8" name="Footer Placeholder 7">
            <a:extLst>
              <a:ext uri="{FF2B5EF4-FFF2-40B4-BE49-F238E27FC236}">
                <a16:creationId xmlns:a16="http://schemas.microsoft.com/office/drawing/2014/main" id="{F3C9D429-581C-1695-1D49-EB9DC7F4E8D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57DDDDA-964E-74D9-2C84-82C2D43919FF}"/>
              </a:ext>
            </a:extLst>
          </p:cNvPr>
          <p:cNvSpPr>
            <a:spLocks noGrp="1"/>
          </p:cNvSpPr>
          <p:nvPr>
            <p:ph type="sldNum" sz="quarter" idx="12"/>
          </p:nvPr>
        </p:nvSpPr>
        <p:spPr/>
        <p:txBody>
          <a:bodyPr/>
          <a:lstStyle/>
          <a:p>
            <a:fld id="{82428F0C-7A9D-4527-BC28-6CDB19FABEB8}" type="slidenum">
              <a:rPr lang="en-US" smtClean="0"/>
              <a:t>‹#›</a:t>
            </a:fld>
            <a:endParaRPr lang="en-US"/>
          </a:p>
        </p:txBody>
      </p:sp>
    </p:spTree>
    <p:extLst>
      <p:ext uri="{BB962C8B-B14F-4D97-AF65-F5344CB8AC3E}">
        <p14:creationId xmlns:p14="http://schemas.microsoft.com/office/powerpoint/2010/main" val="14682125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1C1295-9ADD-7B97-8834-1A9B96E532C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8E8F9E3-4C76-5F9C-8E76-FE7F4B2A74AC}"/>
              </a:ext>
            </a:extLst>
          </p:cNvPr>
          <p:cNvSpPr>
            <a:spLocks noGrp="1"/>
          </p:cNvSpPr>
          <p:nvPr>
            <p:ph type="dt" sz="half" idx="10"/>
          </p:nvPr>
        </p:nvSpPr>
        <p:spPr/>
        <p:txBody>
          <a:bodyPr/>
          <a:lstStyle/>
          <a:p>
            <a:fld id="{99FCC200-671D-4C41-B3EB-5F90A3022967}" type="datetimeFigureOut">
              <a:rPr lang="en-US" smtClean="0"/>
              <a:t>2/26/2026</a:t>
            </a:fld>
            <a:endParaRPr lang="en-US"/>
          </a:p>
        </p:txBody>
      </p:sp>
      <p:sp>
        <p:nvSpPr>
          <p:cNvPr id="4" name="Footer Placeholder 3">
            <a:extLst>
              <a:ext uri="{FF2B5EF4-FFF2-40B4-BE49-F238E27FC236}">
                <a16:creationId xmlns:a16="http://schemas.microsoft.com/office/drawing/2014/main" id="{7AB75073-8534-39C6-899F-9BEA1A8E037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102490C-96C4-5940-D823-FC49C229F4BB}"/>
              </a:ext>
            </a:extLst>
          </p:cNvPr>
          <p:cNvSpPr>
            <a:spLocks noGrp="1"/>
          </p:cNvSpPr>
          <p:nvPr>
            <p:ph type="sldNum" sz="quarter" idx="12"/>
          </p:nvPr>
        </p:nvSpPr>
        <p:spPr/>
        <p:txBody>
          <a:bodyPr/>
          <a:lstStyle/>
          <a:p>
            <a:fld id="{82428F0C-7A9D-4527-BC28-6CDB19FABEB8}" type="slidenum">
              <a:rPr lang="en-US" smtClean="0"/>
              <a:t>‹#›</a:t>
            </a:fld>
            <a:endParaRPr lang="en-US"/>
          </a:p>
        </p:txBody>
      </p:sp>
    </p:spTree>
    <p:extLst>
      <p:ext uri="{BB962C8B-B14F-4D97-AF65-F5344CB8AC3E}">
        <p14:creationId xmlns:p14="http://schemas.microsoft.com/office/powerpoint/2010/main" val="20340805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F48532-2D15-27ED-A1E7-8A4142B67BC6}"/>
              </a:ext>
            </a:extLst>
          </p:cNvPr>
          <p:cNvSpPr>
            <a:spLocks noGrp="1"/>
          </p:cNvSpPr>
          <p:nvPr>
            <p:ph type="dt" sz="half" idx="10"/>
          </p:nvPr>
        </p:nvSpPr>
        <p:spPr/>
        <p:txBody>
          <a:bodyPr/>
          <a:lstStyle/>
          <a:p>
            <a:fld id="{99FCC200-671D-4C41-B3EB-5F90A3022967}" type="datetimeFigureOut">
              <a:rPr lang="en-US" smtClean="0"/>
              <a:t>2/26/2026</a:t>
            </a:fld>
            <a:endParaRPr lang="en-US"/>
          </a:p>
        </p:txBody>
      </p:sp>
      <p:sp>
        <p:nvSpPr>
          <p:cNvPr id="3" name="Footer Placeholder 2">
            <a:extLst>
              <a:ext uri="{FF2B5EF4-FFF2-40B4-BE49-F238E27FC236}">
                <a16:creationId xmlns:a16="http://schemas.microsoft.com/office/drawing/2014/main" id="{437D15C7-237E-49C7-A60C-DC42AE6B26E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D577851-B6B6-EF4B-0D76-A5EF553DFFC3}"/>
              </a:ext>
            </a:extLst>
          </p:cNvPr>
          <p:cNvSpPr>
            <a:spLocks noGrp="1"/>
          </p:cNvSpPr>
          <p:nvPr>
            <p:ph type="sldNum" sz="quarter" idx="12"/>
          </p:nvPr>
        </p:nvSpPr>
        <p:spPr/>
        <p:txBody>
          <a:bodyPr/>
          <a:lstStyle/>
          <a:p>
            <a:fld id="{82428F0C-7A9D-4527-BC28-6CDB19FABEB8}" type="slidenum">
              <a:rPr lang="en-US" smtClean="0"/>
              <a:t>‹#›</a:t>
            </a:fld>
            <a:endParaRPr lang="en-US"/>
          </a:p>
        </p:txBody>
      </p:sp>
    </p:spTree>
    <p:extLst>
      <p:ext uri="{BB962C8B-B14F-4D97-AF65-F5344CB8AC3E}">
        <p14:creationId xmlns:p14="http://schemas.microsoft.com/office/powerpoint/2010/main" val="26309640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4CACA-DCC7-7FAC-DF1D-68F0B5A5231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665294A-7F52-9E5B-D2C3-B1E8F76C3CA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A704025-CFB4-6D6B-4727-AC03754104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0CF756-9914-ADED-089A-F97A75CFB114}"/>
              </a:ext>
            </a:extLst>
          </p:cNvPr>
          <p:cNvSpPr>
            <a:spLocks noGrp="1"/>
          </p:cNvSpPr>
          <p:nvPr>
            <p:ph type="dt" sz="half" idx="10"/>
          </p:nvPr>
        </p:nvSpPr>
        <p:spPr/>
        <p:txBody>
          <a:bodyPr/>
          <a:lstStyle/>
          <a:p>
            <a:fld id="{99FCC200-671D-4C41-B3EB-5F90A3022967}" type="datetimeFigureOut">
              <a:rPr lang="en-US" smtClean="0"/>
              <a:t>2/26/2026</a:t>
            </a:fld>
            <a:endParaRPr lang="en-US"/>
          </a:p>
        </p:txBody>
      </p:sp>
      <p:sp>
        <p:nvSpPr>
          <p:cNvPr id="6" name="Footer Placeholder 5">
            <a:extLst>
              <a:ext uri="{FF2B5EF4-FFF2-40B4-BE49-F238E27FC236}">
                <a16:creationId xmlns:a16="http://schemas.microsoft.com/office/drawing/2014/main" id="{76AA1CBA-BA88-64DC-2392-ACBC89FC52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D579BD8-FEC5-66AF-F6AE-FCDB10C8A0D2}"/>
              </a:ext>
            </a:extLst>
          </p:cNvPr>
          <p:cNvSpPr>
            <a:spLocks noGrp="1"/>
          </p:cNvSpPr>
          <p:nvPr>
            <p:ph type="sldNum" sz="quarter" idx="12"/>
          </p:nvPr>
        </p:nvSpPr>
        <p:spPr/>
        <p:txBody>
          <a:bodyPr/>
          <a:lstStyle/>
          <a:p>
            <a:fld id="{82428F0C-7A9D-4527-BC28-6CDB19FABEB8}" type="slidenum">
              <a:rPr lang="en-US" smtClean="0"/>
              <a:t>‹#›</a:t>
            </a:fld>
            <a:endParaRPr lang="en-US"/>
          </a:p>
        </p:txBody>
      </p:sp>
    </p:spTree>
    <p:extLst>
      <p:ext uri="{BB962C8B-B14F-4D97-AF65-F5344CB8AC3E}">
        <p14:creationId xmlns:p14="http://schemas.microsoft.com/office/powerpoint/2010/main" val="25948910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75BE6-C890-600A-FF09-EA92765572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0A43D5D-C1DA-CFC3-9E74-38226BEE9DD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0EA68E3-B146-3276-5CF1-13C5CE9A5C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8EDDE5-B9B3-4C0D-EDC9-6275E7CAC4F9}"/>
              </a:ext>
            </a:extLst>
          </p:cNvPr>
          <p:cNvSpPr>
            <a:spLocks noGrp="1"/>
          </p:cNvSpPr>
          <p:nvPr>
            <p:ph type="dt" sz="half" idx="10"/>
          </p:nvPr>
        </p:nvSpPr>
        <p:spPr/>
        <p:txBody>
          <a:bodyPr/>
          <a:lstStyle/>
          <a:p>
            <a:fld id="{99FCC200-671D-4C41-B3EB-5F90A3022967}" type="datetimeFigureOut">
              <a:rPr lang="en-US" smtClean="0"/>
              <a:t>2/26/2026</a:t>
            </a:fld>
            <a:endParaRPr lang="en-US"/>
          </a:p>
        </p:txBody>
      </p:sp>
      <p:sp>
        <p:nvSpPr>
          <p:cNvPr id="6" name="Footer Placeholder 5">
            <a:extLst>
              <a:ext uri="{FF2B5EF4-FFF2-40B4-BE49-F238E27FC236}">
                <a16:creationId xmlns:a16="http://schemas.microsoft.com/office/drawing/2014/main" id="{5711E6EA-E12A-F022-FDCF-B11660BE1FE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4CF4B4-0AC9-3DD9-977C-EFB767BB4D73}"/>
              </a:ext>
            </a:extLst>
          </p:cNvPr>
          <p:cNvSpPr>
            <a:spLocks noGrp="1"/>
          </p:cNvSpPr>
          <p:nvPr>
            <p:ph type="sldNum" sz="quarter" idx="12"/>
          </p:nvPr>
        </p:nvSpPr>
        <p:spPr/>
        <p:txBody>
          <a:bodyPr/>
          <a:lstStyle/>
          <a:p>
            <a:fld id="{82428F0C-7A9D-4527-BC28-6CDB19FABEB8}" type="slidenum">
              <a:rPr lang="en-US" smtClean="0"/>
              <a:t>‹#›</a:t>
            </a:fld>
            <a:endParaRPr lang="en-US"/>
          </a:p>
        </p:txBody>
      </p:sp>
    </p:spTree>
    <p:extLst>
      <p:ext uri="{BB962C8B-B14F-4D97-AF65-F5344CB8AC3E}">
        <p14:creationId xmlns:p14="http://schemas.microsoft.com/office/powerpoint/2010/main" val="33169515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156C5-6454-9FC2-3C50-D6495CE86DB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1372C52-F69F-ED2A-301F-5D2489F1155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8B2B85-08BB-02A7-2F96-D3425E70083C}"/>
              </a:ext>
            </a:extLst>
          </p:cNvPr>
          <p:cNvSpPr>
            <a:spLocks noGrp="1"/>
          </p:cNvSpPr>
          <p:nvPr>
            <p:ph type="dt" sz="half" idx="10"/>
          </p:nvPr>
        </p:nvSpPr>
        <p:spPr/>
        <p:txBody>
          <a:bodyPr/>
          <a:lstStyle/>
          <a:p>
            <a:fld id="{99FCC200-671D-4C41-B3EB-5F90A3022967}" type="datetimeFigureOut">
              <a:rPr lang="en-US" smtClean="0"/>
              <a:t>2/26/2026</a:t>
            </a:fld>
            <a:endParaRPr lang="en-US"/>
          </a:p>
        </p:txBody>
      </p:sp>
      <p:sp>
        <p:nvSpPr>
          <p:cNvPr id="5" name="Footer Placeholder 4">
            <a:extLst>
              <a:ext uri="{FF2B5EF4-FFF2-40B4-BE49-F238E27FC236}">
                <a16:creationId xmlns:a16="http://schemas.microsoft.com/office/drawing/2014/main" id="{59887F11-ABB1-FE54-4548-F9D87DBEF51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1073AB-43AB-D18F-D89C-2341F3982F48}"/>
              </a:ext>
            </a:extLst>
          </p:cNvPr>
          <p:cNvSpPr>
            <a:spLocks noGrp="1"/>
          </p:cNvSpPr>
          <p:nvPr>
            <p:ph type="sldNum" sz="quarter" idx="12"/>
          </p:nvPr>
        </p:nvSpPr>
        <p:spPr/>
        <p:txBody>
          <a:bodyPr/>
          <a:lstStyle/>
          <a:p>
            <a:fld id="{82428F0C-7A9D-4527-BC28-6CDB19FABEB8}" type="slidenum">
              <a:rPr lang="en-US" smtClean="0"/>
              <a:t>‹#›</a:t>
            </a:fld>
            <a:endParaRPr lang="en-US"/>
          </a:p>
        </p:txBody>
      </p:sp>
    </p:spTree>
    <p:extLst>
      <p:ext uri="{BB962C8B-B14F-4D97-AF65-F5344CB8AC3E}">
        <p14:creationId xmlns:p14="http://schemas.microsoft.com/office/powerpoint/2010/main" val="18502805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B14500E-EF61-9394-EDBD-C678260EE27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84C6038-CDBB-A331-5CAB-71AEA487691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4F6A7A-73B9-8E4C-B14A-6F32ABB55DCE}"/>
              </a:ext>
            </a:extLst>
          </p:cNvPr>
          <p:cNvSpPr>
            <a:spLocks noGrp="1"/>
          </p:cNvSpPr>
          <p:nvPr>
            <p:ph type="dt" sz="half" idx="10"/>
          </p:nvPr>
        </p:nvSpPr>
        <p:spPr/>
        <p:txBody>
          <a:bodyPr/>
          <a:lstStyle/>
          <a:p>
            <a:fld id="{99FCC200-671D-4C41-B3EB-5F90A3022967}" type="datetimeFigureOut">
              <a:rPr lang="en-US" smtClean="0"/>
              <a:t>2/26/2026</a:t>
            </a:fld>
            <a:endParaRPr lang="en-US"/>
          </a:p>
        </p:txBody>
      </p:sp>
      <p:sp>
        <p:nvSpPr>
          <p:cNvPr id="5" name="Footer Placeholder 4">
            <a:extLst>
              <a:ext uri="{FF2B5EF4-FFF2-40B4-BE49-F238E27FC236}">
                <a16:creationId xmlns:a16="http://schemas.microsoft.com/office/drawing/2014/main" id="{59B0D0B5-198D-341E-42E0-DADF5B5844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B9109A-71B7-665D-B4C8-88B2390A0593}"/>
              </a:ext>
            </a:extLst>
          </p:cNvPr>
          <p:cNvSpPr>
            <a:spLocks noGrp="1"/>
          </p:cNvSpPr>
          <p:nvPr>
            <p:ph type="sldNum" sz="quarter" idx="12"/>
          </p:nvPr>
        </p:nvSpPr>
        <p:spPr/>
        <p:txBody>
          <a:bodyPr/>
          <a:lstStyle/>
          <a:p>
            <a:fld id="{82428F0C-7A9D-4527-BC28-6CDB19FABEB8}" type="slidenum">
              <a:rPr lang="en-US" smtClean="0"/>
              <a:t>‹#›</a:t>
            </a:fld>
            <a:endParaRPr lang="en-US"/>
          </a:p>
        </p:txBody>
      </p:sp>
    </p:spTree>
    <p:extLst>
      <p:ext uri="{BB962C8B-B14F-4D97-AF65-F5344CB8AC3E}">
        <p14:creationId xmlns:p14="http://schemas.microsoft.com/office/powerpoint/2010/main" val="5303991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F32D04-C0AE-F2EA-7EEA-98055AAF988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2E1F101-A2B1-C2F2-02B2-258F6C23970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D2F8FA-4F72-916D-BD07-430186B7D17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9FCC200-671D-4C41-B3EB-5F90A3022967}" type="datetimeFigureOut">
              <a:rPr lang="en-US" smtClean="0"/>
              <a:t>2/26/2026</a:t>
            </a:fld>
            <a:endParaRPr lang="en-US"/>
          </a:p>
        </p:txBody>
      </p:sp>
      <p:sp>
        <p:nvSpPr>
          <p:cNvPr id="5" name="Footer Placeholder 4">
            <a:extLst>
              <a:ext uri="{FF2B5EF4-FFF2-40B4-BE49-F238E27FC236}">
                <a16:creationId xmlns:a16="http://schemas.microsoft.com/office/drawing/2014/main" id="{AF07093F-E9CA-1476-EE60-D52F9923ED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94DA1A7-459F-8A39-14BF-8D4D8767A6D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2428F0C-7A9D-4527-BC28-6CDB19FABEB8}" type="slidenum">
              <a:rPr lang="en-US" smtClean="0"/>
              <a:t>‹#›</a:t>
            </a:fld>
            <a:endParaRPr lang="en-US"/>
          </a:p>
        </p:txBody>
      </p:sp>
    </p:spTree>
    <p:extLst>
      <p:ext uri="{BB962C8B-B14F-4D97-AF65-F5344CB8AC3E}">
        <p14:creationId xmlns:p14="http://schemas.microsoft.com/office/powerpoint/2010/main" val="8075413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tmp"/><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4FB82-D954-5C6D-EFF8-3316BC5C9EEA}"/>
              </a:ext>
            </a:extLst>
          </p:cNvPr>
          <p:cNvSpPr>
            <a:spLocks noGrp="1"/>
          </p:cNvSpPr>
          <p:nvPr>
            <p:ph type="ctrTitle"/>
          </p:nvPr>
        </p:nvSpPr>
        <p:spPr>
          <a:xfrm>
            <a:off x="1524000" y="1504336"/>
            <a:ext cx="9144000" cy="1514013"/>
          </a:xfrm>
        </p:spPr>
        <p:txBody>
          <a:bodyPr>
            <a:normAutofit fontScale="90000"/>
          </a:bodyPr>
          <a:lstStyle/>
          <a:p>
            <a:br>
              <a:rPr lang="en-US" dirty="0">
                <a:solidFill>
                  <a:srgbClr val="0070C0"/>
                </a:solidFill>
              </a:rPr>
            </a:br>
            <a:r>
              <a:rPr lang="en-US" sz="4400" dirty="0">
                <a:solidFill>
                  <a:srgbClr val="0070C0"/>
                </a:solidFill>
              </a:rPr>
              <a:t>Asynchronous Programming in Python</a:t>
            </a:r>
          </a:p>
        </p:txBody>
      </p:sp>
      <p:pic>
        <p:nvPicPr>
          <p:cNvPr id="7" name="Picture 6" descr="A blue and white logo&#10;&#10;AI-generated content may be incorrect.">
            <a:extLst>
              <a:ext uri="{FF2B5EF4-FFF2-40B4-BE49-F238E27FC236}">
                <a16:creationId xmlns:a16="http://schemas.microsoft.com/office/drawing/2014/main" id="{35605652-A73E-1981-ECAA-CE545ED434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24989" y="278107"/>
            <a:ext cx="1817494" cy="844256"/>
          </a:xfrm>
          <a:prstGeom prst="rect">
            <a:avLst/>
          </a:prstGeom>
        </p:spPr>
      </p:pic>
      <p:sp>
        <p:nvSpPr>
          <p:cNvPr id="8" name="Subtitle 2">
            <a:extLst>
              <a:ext uri="{FF2B5EF4-FFF2-40B4-BE49-F238E27FC236}">
                <a16:creationId xmlns:a16="http://schemas.microsoft.com/office/drawing/2014/main" id="{131B475D-7460-246B-F7A7-426226FD6476}"/>
              </a:ext>
            </a:extLst>
          </p:cNvPr>
          <p:cNvSpPr txBox="1">
            <a:spLocks/>
          </p:cNvSpPr>
          <p:nvPr/>
        </p:nvSpPr>
        <p:spPr>
          <a:xfrm>
            <a:off x="6282813" y="3429000"/>
            <a:ext cx="2615380" cy="205478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sz="2000" b="1" dirty="0"/>
          </a:p>
        </p:txBody>
      </p:sp>
      <p:sp>
        <p:nvSpPr>
          <p:cNvPr id="4" name="TextBox 3">
            <a:extLst>
              <a:ext uri="{FF2B5EF4-FFF2-40B4-BE49-F238E27FC236}">
                <a16:creationId xmlns:a16="http://schemas.microsoft.com/office/drawing/2014/main" id="{F7AF6390-BBC6-2EC6-05E2-C09B56EE2A79}"/>
              </a:ext>
            </a:extLst>
          </p:cNvPr>
          <p:cNvSpPr txBox="1"/>
          <p:nvPr/>
        </p:nvSpPr>
        <p:spPr>
          <a:xfrm>
            <a:off x="3705225" y="2769380"/>
            <a:ext cx="6496050" cy="1261884"/>
          </a:xfrm>
          <a:prstGeom prst="rect">
            <a:avLst/>
          </a:prstGeom>
          <a:noFill/>
        </p:spPr>
        <p:txBody>
          <a:bodyPr wrap="square" rtlCol="0">
            <a:spAutoFit/>
          </a:bodyPr>
          <a:lstStyle/>
          <a:p>
            <a:pPr algn="ctr"/>
            <a:r>
              <a:rPr lang="en-US" b="1" dirty="0">
                <a:solidFill>
                  <a:srgbClr val="0070C0"/>
                </a:solidFill>
              </a:rPr>
              <a:t>	</a:t>
            </a:r>
          </a:p>
          <a:p>
            <a:r>
              <a:rPr lang="en-US" sz="2000" b="1" dirty="0">
                <a:solidFill>
                  <a:srgbClr val="0070C0"/>
                </a:solidFill>
              </a:rPr>
              <a:t>Presented by :Ahmed Hossam Rafik </a:t>
            </a:r>
          </a:p>
          <a:p>
            <a:r>
              <a:rPr lang="en-US" sz="2000" b="1" dirty="0">
                <a:solidFill>
                  <a:srgbClr val="0070C0"/>
                </a:solidFill>
              </a:rPr>
              <a:t>Supervised by : Eng Mohamed El Adawy </a:t>
            </a:r>
          </a:p>
          <a:p>
            <a:r>
              <a:rPr lang="en-US" b="1" dirty="0"/>
              <a:t>		</a:t>
            </a:r>
          </a:p>
        </p:txBody>
      </p:sp>
      <p:pic>
        <p:nvPicPr>
          <p:cNvPr id="1026" name="Picture 2" descr="ASU-ENG SIS">
            <a:extLst>
              <a:ext uri="{FF2B5EF4-FFF2-40B4-BE49-F238E27FC236}">
                <a16:creationId xmlns:a16="http://schemas.microsoft.com/office/drawing/2014/main" id="{24EF12E0-B72B-F465-AD3B-8D4C16520E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517" y="94968"/>
            <a:ext cx="2054789" cy="20547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75095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D5EAC-5AA1-87E2-D5B0-546BC78ED427}"/>
              </a:ext>
            </a:extLst>
          </p:cNvPr>
          <p:cNvSpPr>
            <a:spLocks noGrp="1"/>
          </p:cNvSpPr>
          <p:nvPr>
            <p:ph type="title"/>
          </p:nvPr>
        </p:nvSpPr>
        <p:spPr>
          <a:xfrm>
            <a:off x="0" y="0"/>
            <a:ext cx="12192000" cy="1122363"/>
          </a:xfrm>
        </p:spPr>
        <p:txBody>
          <a:bodyPr/>
          <a:lstStyle/>
          <a:p>
            <a:r>
              <a:rPr lang="en-US" dirty="0">
                <a:solidFill>
                  <a:srgbClr val="0070C0"/>
                </a:solidFill>
              </a:rPr>
              <a:t>The Core Concept: Sync vs. Async</a:t>
            </a:r>
          </a:p>
        </p:txBody>
      </p:sp>
      <p:sp>
        <p:nvSpPr>
          <p:cNvPr id="3" name="Content Placeholder 2">
            <a:extLst>
              <a:ext uri="{FF2B5EF4-FFF2-40B4-BE49-F238E27FC236}">
                <a16:creationId xmlns:a16="http://schemas.microsoft.com/office/drawing/2014/main" id="{9B096D88-5D73-D25E-55F8-0DE9EF1D5DF0}"/>
              </a:ext>
            </a:extLst>
          </p:cNvPr>
          <p:cNvSpPr>
            <a:spLocks noGrp="1"/>
          </p:cNvSpPr>
          <p:nvPr>
            <p:ph idx="1"/>
          </p:nvPr>
        </p:nvSpPr>
        <p:spPr>
          <a:xfrm>
            <a:off x="0" y="1122362"/>
            <a:ext cx="12192000" cy="5735637"/>
          </a:xfrm>
        </p:spPr>
        <p:txBody>
          <a:bodyPr>
            <a:normAutofit/>
          </a:bodyPr>
          <a:lstStyle/>
          <a:p>
            <a:r>
              <a:rPr lang="en-US" dirty="0"/>
              <a:t>Imagine programming is a journey from Point A to Point D. In traditional, synchronous programming, we travel in a straight line. If there is a delay at Point B, the entire journey stops. We just sit there waiting.</a:t>
            </a:r>
          </a:p>
          <a:p>
            <a:endParaRPr lang="en-US" dirty="0"/>
          </a:p>
          <a:p>
            <a:r>
              <a:rPr lang="en-US" dirty="0"/>
              <a:t>Asynchronous programming changes the game. Instead of waiting, we send out scouts. We can start exploring paths B, C, and D even if the task at A isn’t completely finished yet. </a:t>
            </a:r>
          </a:p>
          <a:p>
            <a:endParaRPr lang="en-US" dirty="0"/>
          </a:p>
          <a:p>
            <a:r>
              <a:rPr lang="en-US" dirty="0"/>
              <a:t>By doing this, our program handles multiple tasks at the exact same time without sitting around doing nothing during idle waiting periods</a:t>
            </a:r>
          </a:p>
        </p:txBody>
      </p:sp>
    </p:spTree>
    <p:extLst>
      <p:ext uri="{BB962C8B-B14F-4D97-AF65-F5344CB8AC3E}">
        <p14:creationId xmlns:p14="http://schemas.microsoft.com/office/powerpoint/2010/main" val="3853187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B41DFB-6BAC-0FF9-DF33-AF7C0FF190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3C1006-EF9E-5D2A-864E-672E857A3A6E}"/>
              </a:ext>
            </a:extLst>
          </p:cNvPr>
          <p:cNvSpPr>
            <a:spLocks noGrp="1"/>
          </p:cNvSpPr>
          <p:nvPr>
            <p:ph type="title"/>
          </p:nvPr>
        </p:nvSpPr>
        <p:spPr>
          <a:xfrm>
            <a:off x="0" y="0"/>
            <a:ext cx="12192000" cy="1122363"/>
          </a:xfrm>
        </p:spPr>
        <p:txBody>
          <a:bodyPr/>
          <a:lstStyle/>
          <a:p>
            <a:r>
              <a:rPr lang="en-US">
                <a:solidFill>
                  <a:srgbClr val="0070C0"/>
                </a:solidFill>
              </a:rPr>
              <a:t>The Core Concept: Sync vs. Async</a:t>
            </a:r>
            <a:endParaRPr lang="en-US" dirty="0">
              <a:solidFill>
                <a:srgbClr val="0070C0"/>
              </a:solidFill>
            </a:endParaRPr>
          </a:p>
        </p:txBody>
      </p:sp>
      <p:pic>
        <p:nvPicPr>
          <p:cNvPr id="5" name="Content Placeholder 4">
            <a:extLst>
              <a:ext uri="{FF2B5EF4-FFF2-40B4-BE49-F238E27FC236}">
                <a16:creationId xmlns:a16="http://schemas.microsoft.com/office/drawing/2014/main" id="{1258194D-0EF0-A3DE-BEB3-F8B96C01CF89}"/>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481258" y="1122363"/>
            <a:ext cx="7229484" cy="4337690"/>
          </a:xfrm>
          <a:prstGeom prst="rect">
            <a:avLst/>
          </a:prstGeom>
        </p:spPr>
      </p:pic>
      <p:sp>
        <p:nvSpPr>
          <p:cNvPr id="6" name="TextBox 5">
            <a:extLst>
              <a:ext uri="{FF2B5EF4-FFF2-40B4-BE49-F238E27FC236}">
                <a16:creationId xmlns:a16="http://schemas.microsoft.com/office/drawing/2014/main" id="{05243C7D-56AD-9906-3307-9F394EA45A8E}"/>
              </a:ext>
            </a:extLst>
          </p:cNvPr>
          <p:cNvSpPr txBox="1"/>
          <p:nvPr/>
        </p:nvSpPr>
        <p:spPr>
          <a:xfrm>
            <a:off x="1095375" y="5441716"/>
            <a:ext cx="10344150" cy="369332"/>
          </a:xfrm>
          <a:prstGeom prst="rect">
            <a:avLst/>
          </a:prstGeom>
          <a:noFill/>
        </p:spPr>
        <p:txBody>
          <a:bodyPr wrap="square" rtlCol="0">
            <a:spAutoFit/>
          </a:bodyPr>
          <a:lstStyle/>
          <a:p>
            <a:r>
              <a:rPr lang="en-US" dirty="0"/>
              <a:t>The Benefit: Code handles multiple operations simultaneously, eliminating unnecessary waiting times.</a:t>
            </a:r>
          </a:p>
        </p:txBody>
      </p:sp>
    </p:spTree>
    <p:extLst>
      <p:ext uri="{BB962C8B-B14F-4D97-AF65-F5344CB8AC3E}">
        <p14:creationId xmlns:p14="http://schemas.microsoft.com/office/powerpoint/2010/main" val="105490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AE01AD-6DF8-C9C4-04CA-90E857C83FFF}"/>
              </a:ext>
            </a:extLst>
          </p:cNvPr>
          <p:cNvSpPr>
            <a:spLocks noGrp="1"/>
          </p:cNvSpPr>
          <p:nvPr>
            <p:ph type="title"/>
          </p:nvPr>
        </p:nvSpPr>
        <p:spPr>
          <a:xfrm>
            <a:off x="-1565" y="0"/>
            <a:ext cx="12193565" cy="1122363"/>
          </a:xfrm>
        </p:spPr>
        <p:txBody>
          <a:bodyPr/>
          <a:lstStyle/>
          <a:p>
            <a:r>
              <a:rPr lang="en-US" dirty="0">
                <a:solidFill>
                  <a:srgbClr val="0070C0"/>
                </a:solidFill>
              </a:rPr>
              <a:t>Concurrency Models</a:t>
            </a:r>
          </a:p>
        </p:txBody>
      </p:sp>
      <p:sp>
        <p:nvSpPr>
          <p:cNvPr id="4" name="Content Placeholder 3">
            <a:extLst>
              <a:ext uri="{FF2B5EF4-FFF2-40B4-BE49-F238E27FC236}">
                <a16:creationId xmlns:a16="http://schemas.microsoft.com/office/drawing/2014/main" id="{AF028E51-8B14-F5D8-A77A-DEADA51C9CB0}"/>
              </a:ext>
            </a:extLst>
          </p:cNvPr>
          <p:cNvSpPr>
            <a:spLocks noGrp="1"/>
          </p:cNvSpPr>
          <p:nvPr>
            <p:ph idx="1"/>
          </p:nvPr>
        </p:nvSpPr>
        <p:spPr>
          <a:xfrm>
            <a:off x="-1" y="1122363"/>
            <a:ext cx="12192001" cy="5735636"/>
          </a:xfrm>
        </p:spPr>
        <p:txBody>
          <a:bodyPr/>
          <a:lstStyle/>
          <a:p>
            <a:pPr marL="0" indent="0">
              <a:buNone/>
            </a:pPr>
            <a:r>
              <a:rPr lang="en-US" b="1" dirty="0">
                <a:solidFill>
                  <a:srgbClr val="0070C0"/>
                </a:solidFill>
              </a:rPr>
              <a:t>Choosing the Right Concurrency Model:</a:t>
            </a:r>
          </a:p>
          <a:p>
            <a:r>
              <a:rPr lang="en-US" dirty="0"/>
              <a:t>Async IO: Best for tasks with heavy waiting (Network requests, reading files). Very low CPU usage.</a:t>
            </a:r>
          </a:p>
          <a:p>
            <a:endParaRPr lang="en-US" dirty="0"/>
          </a:p>
          <a:p>
            <a:r>
              <a:rPr lang="en-US" dirty="0"/>
              <a:t>Threads: Best for tasks that wait but also need to share memory/data. Runs in parallel within the same application.</a:t>
            </a:r>
          </a:p>
          <a:p>
            <a:endParaRPr lang="en-US" dirty="0"/>
          </a:p>
          <a:p>
            <a:r>
              <a:rPr lang="en-US" dirty="0"/>
              <a:t>Processes: Best for CPU-heavy tasks (Intensive computations). Runs truly parallel across multiple CPU cores.</a:t>
            </a:r>
          </a:p>
        </p:txBody>
      </p:sp>
    </p:spTree>
    <p:extLst>
      <p:ext uri="{BB962C8B-B14F-4D97-AF65-F5344CB8AC3E}">
        <p14:creationId xmlns:p14="http://schemas.microsoft.com/office/powerpoint/2010/main" val="30061109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AD6B46-EE0E-77BA-A7DA-3B4B1F2D1C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90CAE7-EC45-E92C-25B9-FE21A95F8AA9}"/>
              </a:ext>
            </a:extLst>
          </p:cNvPr>
          <p:cNvSpPr>
            <a:spLocks noGrp="1"/>
          </p:cNvSpPr>
          <p:nvPr>
            <p:ph type="title"/>
          </p:nvPr>
        </p:nvSpPr>
        <p:spPr>
          <a:xfrm>
            <a:off x="-1565" y="0"/>
            <a:ext cx="12193565" cy="1122363"/>
          </a:xfrm>
        </p:spPr>
        <p:txBody>
          <a:bodyPr/>
          <a:lstStyle/>
          <a:p>
            <a:r>
              <a:rPr lang="en-US" dirty="0">
                <a:solidFill>
                  <a:srgbClr val="0070C0"/>
                </a:solidFill>
              </a:rPr>
              <a:t>Event Loop</a:t>
            </a:r>
          </a:p>
        </p:txBody>
      </p:sp>
      <p:sp>
        <p:nvSpPr>
          <p:cNvPr id="4" name="Content Placeholder 3">
            <a:extLst>
              <a:ext uri="{FF2B5EF4-FFF2-40B4-BE49-F238E27FC236}">
                <a16:creationId xmlns:a16="http://schemas.microsoft.com/office/drawing/2014/main" id="{071AF119-EFF8-5CB1-D8DC-B871719AEF03}"/>
              </a:ext>
            </a:extLst>
          </p:cNvPr>
          <p:cNvSpPr>
            <a:spLocks noGrp="1"/>
          </p:cNvSpPr>
          <p:nvPr>
            <p:ph idx="1"/>
          </p:nvPr>
        </p:nvSpPr>
        <p:spPr>
          <a:xfrm>
            <a:off x="-1565" y="1122363"/>
            <a:ext cx="12193565" cy="5735636"/>
          </a:xfrm>
        </p:spPr>
        <p:txBody>
          <a:bodyPr/>
          <a:lstStyle/>
          <a:p>
            <a:r>
              <a:rPr lang="en-US" dirty="0"/>
              <a:t>The Heart of Async is the Event Loop as it acts as the central hub: Manages and distributes all tasks.</a:t>
            </a:r>
          </a:p>
          <a:p>
            <a:endParaRPr lang="en-US" dirty="0"/>
          </a:p>
          <a:p>
            <a:r>
              <a:rPr lang="en-US" dirty="0"/>
              <a:t>How it Works: </a:t>
            </a:r>
          </a:p>
          <a:p>
            <a:pPr>
              <a:buFont typeface="Wingdings" panose="05000000000000000000" pitchFamily="2" charset="2"/>
              <a:buChar char="q"/>
            </a:pPr>
            <a:r>
              <a:rPr lang="en-US" dirty="0"/>
              <a:t>Tasks circle the hub waiting for their turn.</a:t>
            </a:r>
          </a:p>
          <a:p>
            <a:pPr>
              <a:buFont typeface="Wingdings" panose="05000000000000000000" pitchFamily="2" charset="2"/>
              <a:buChar char="q"/>
            </a:pPr>
            <a:r>
              <a:rPr lang="en-US" dirty="0"/>
              <a:t>Cooperative Yielding: Tasks step aside when waiting.</a:t>
            </a:r>
          </a:p>
          <a:p>
            <a:pPr>
              <a:buFont typeface="Wingdings" panose="05000000000000000000" pitchFamily="2" charset="2"/>
              <a:buChar char="q"/>
            </a:pPr>
            <a:r>
              <a:rPr lang="en-US" dirty="0"/>
              <a:t>Resumption: Once the awaited operation finishes, the task resumes</a:t>
            </a:r>
          </a:p>
          <a:p>
            <a:endParaRPr lang="en-US" dirty="0"/>
          </a:p>
        </p:txBody>
      </p:sp>
    </p:spTree>
    <p:extLst>
      <p:ext uri="{BB962C8B-B14F-4D97-AF65-F5344CB8AC3E}">
        <p14:creationId xmlns:p14="http://schemas.microsoft.com/office/powerpoint/2010/main" val="21220439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AD6B46-EE0E-77BA-A7DA-3B4B1F2D1C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90CAE7-EC45-E92C-25B9-FE21A95F8AA9}"/>
              </a:ext>
            </a:extLst>
          </p:cNvPr>
          <p:cNvSpPr>
            <a:spLocks noGrp="1"/>
          </p:cNvSpPr>
          <p:nvPr>
            <p:ph type="title"/>
          </p:nvPr>
        </p:nvSpPr>
        <p:spPr>
          <a:xfrm>
            <a:off x="-1565" y="0"/>
            <a:ext cx="12193565" cy="1122363"/>
          </a:xfrm>
        </p:spPr>
        <p:txBody>
          <a:bodyPr/>
          <a:lstStyle/>
          <a:p>
            <a:r>
              <a:rPr lang="en-US" dirty="0">
                <a:solidFill>
                  <a:srgbClr val="0070C0"/>
                </a:solidFill>
              </a:rPr>
              <a:t>Event loop</a:t>
            </a:r>
          </a:p>
        </p:txBody>
      </p:sp>
      <p:sp>
        <p:nvSpPr>
          <p:cNvPr id="4" name="Content Placeholder 3">
            <a:extLst>
              <a:ext uri="{FF2B5EF4-FFF2-40B4-BE49-F238E27FC236}">
                <a16:creationId xmlns:a16="http://schemas.microsoft.com/office/drawing/2014/main" id="{071AF119-EFF8-5CB1-D8DC-B871719AEF03}"/>
              </a:ext>
            </a:extLst>
          </p:cNvPr>
          <p:cNvSpPr>
            <a:spLocks noGrp="1"/>
          </p:cNvSpPr>
          <p:nvPr>
            <p:ph idx="1"/>
          </p:nvPr>
        </p:nvSpPr>
        <p:spPr>
          <a:xfrm>
            <a:off x="-1565" y="1122363"/>
            <a:ext cx="12193565" cy="5735636"/>
          </a:xfrm>
        </p:spPr>
        <p:txBody>
          <a:bodyPr/>
          <a:lstStyle/>
          <a:p>
            <a:endParaRPr lang="en-US" dirty="0"/>
          </a:p>
          <a:p>
            <a:endParaRPr lang="en-US" dirty="0"/>
          </a:p>
        </p:txBody>
      </p:sp>
      <p:pic>
        <p:nvPicPr>
          <p:cNvPr id="6" name="Picture 5">
            <a:extLst>
              <a:ext uri="{FF2B5EF4-FFF2-40B4-BE49-F238E27FC236}">
                <a16:creationId xmlns:a16="http://schemas.microsoft.com/office/drawing/2014/main" id="{3B665EE6-3D54-B25F-C0EB-487E2DCC38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90918" y="870198"/>
            <a:ext cx="6010164" cy="4511427"/>
          </a:xfrm>
          <a:prstGeom prst="rect">
            <a:avLst/>
          </a:prstGeom>
        </p:spPr>
      </p:pic>
      <p:sp>
        <p:nvSpPr>
          <p:cNvPr id="7" name="TextBox 6">
            <a:extLst>
              <a:ext uri="{FF2B5EF4-FFF2-40B4-BE49-F238E27FC236}">
                <a16:creationId xmlns:a16="http://schemas.microsoft.com/office/drawing/2014/main" id="{585CCE18-995D-5B09-D8C0-261677F5C53F}"/>
              </a:ext>
            </a:extLst>
          </p:cNvPr>
          <p:cNvSpPr txBox="1"/>
          <p:nvPr/>
        </p:nvSpPr>
        <p:spPr>
          <a:xfrm>
            <a:off x="1195387" y="5449124"/>
            <a:ext cx="10296525" cy="369332"/>
          </a:xfrm>
          <a:prstGeom prst="rect">
            <a:avLst/>
          </a:prstGeom>
          <a:noFill/>
        </p:spPr>
        <p:txBody>
          <a:bodyPr wrap="square" rtlCol="0">
            <a:spAutoFit/>
          </a:bodyPr>
          <a:lstStyle/>
          <a:p>
            <a:r>
              <a:rPr lang="en-US" dirty="0"/>
              <a:t>If you are using Async IO, the brain of the operation is the Event Loop.</a:t>
            </a:r>
          </a:p>
        </p:txBody>
      </p:sp>
    </p:spTree>
    <p:extLst>
      <p:ext uri="{BB962C8B-B14F-4D97-AF65-F5344CB8AC3E}">
        <p14:creationId xmlns:p14="http://schemas.microsoft.com/office/powerpoint/2010/main" val="38991720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CB327-FB1D-5EB5-7A88-B389A6F61D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EE503C-BE51-5406-9A5C-CE6B66E7ED08}"/>
              </a:ext>
            </a:extLst>
          </p:cNvPr>
          <p:cNvSpPr>
            <a:spLocks noGrp="1"/>
          </p:cNvSpPr>
          <p:nvPr>
            <p:ph type="title"/>
          </p:nvPr>
        </p:nvSpPr>
        <p:spPr>
          <a:xfrm>
            <a:off x="-1565" y="0"/>
            <a:ext cx="12193565" cy="1122363"/>
          </a:xfrm>
        </p:spPr>
        <p:txBody>
          <a:bodyPr/>
          <a:lstStyle/>
          <a:p>
            <a:r>
              <a:rPr lang="en-US" dirty="0">
                <a:solidFill>
                  <a:srgbClr val="0070C0"/>
                </a:solidFill>
              </a:rPr>
              <a:t>Coroutines &amp; The `await` Keyword</a:t>
            </a:r>
          </a:p>
        </p:txBody>
      </p:sp>
      <p:sp>
        <p:nvSpPr>
          <p:cNvPr id="5" name="Content Placeholder 6">
            <a:extLst>
              <a:ext uri="{FF2B5EF4-FFF2-40B4-BE49-F238E27FC236}">
                <a16:creationId xmlns:a16="http://schemas.microsoft.com/office/drawing/2014/main" id="{364C7452-A65B-66F8-C429-0306EB10722E}"/>
              </a:ext>
            </a:extLst>
          </p:cNvPr>
          <p:cNvSpPr txBox="1">
            <a:spLocks/>
          </p:cNvSpPr>
          <p:nvPr/>
        </p:nvSpPr>
        <p:spPr>
          <a:xfrm>
            <a:off x="123825" y="1341438"/>
            <a:ext cx="10515600" cy="435133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What is a Coroutine? A function defined with 'async def’.</a:t>
            </a:r>
          </a:p>
          <a:p>
            <a:endParaRPr lang="en-US" dirty="0"/>
          </a:p>
          <a:p>
            <a:r>
              <a:rPr lang="en-US" dirty="0"/>
              <a:t>Creation vs. Execution: Calling an async function only creates a coroutine object; it doesn't run it.</a:t>
            </a:r>
          </a:p>
          <a:p>
            <a:endParaRPr lang="en-US" dirty="0"/>
          </a:p>
          <a:p>
            <a:r>
              <a:rPr lang="en-US" dirty="0"/>
              <a:t>The Trigger: The 'await' keyword is required to execute the coroutine and get its result.</a:t>
            </a:r>
          </a:p>
          <a:p>
            <a:endParaRPr lang="en-US" dirty="0"/>
          </a:p>
          <a:p>
            <a:r>
              <a:rPr lang="en-US" dirty="0"/>
              <a:t>The Entry Point: '</a:t>
            </a:r>
            <a:r>
              <a:rPr lang="en-US" dirty="0" err="1"/>
              <a:t>asyncio.run</a:t>
            </a:r>
            <a:r>
              <a:rPr lang="en-US" dirty="0"/>
              <a:t>()' starts the event loop and executes the main coroutine.</a:t>
            </a:r>
          </a:p>
          <a:p>
            <a:endParaRPr lang="en-US" dirty="0"/>
          </a:p>
          <a:p>
            <a:endParaRPr lang="en-US" dirty="0"/>
          </a:p>
        </p:txBody>
      </p:sp>
    </p:spTree>
    <p:extLst>
      <p:ext uri="{BB962C8B-B14F-4D97-AF65-F5344CB8AC3E}">
        <p14:creationId xmlns:p14="http://schemas.microsoft.com/office/powerpoint/2010/main" val="40735269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3F688-4468-F605-D749-E722089952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879AD4-E717-E858-C34F-B786CEECE9C0}"/>
              </a:ext>
            </a:extLst>
          </p:cNvPr>
          <p:cNvSpPr>
            <a:spLocks noGrp="1"/>
          </p:cNvSpPr>
          <p:nvPr>
            <p:ph type="title"/>
          </p:nvPr>
        </p:nvSpPr>
        <p:spPr>
          <a:xfrm>
            <a:off x="-1565" y="0"/>
            <a:ext cx="12193565" cy="1122363"/>
          </a:xfrm>
        </p:spPr>
        <p:txBody>
          <a:bodyPr/>
          <a:lstStyle/>
          <a:p>
            <a:r>
              <a:rPr lang="en-US" dirty="0">
                <a:solidFill>
                  <a:srgbClr val="0070C0"/>
                </a:solidFill>
              </a:rPr>
              <a:t>Coroutines &amp; The `await` Keyword</a:t>
            </a:r>
          </a:p>
        </p:txBody>
      </p:sp>
      <p:sp>
        <p:nvSpPr>
          <p:cNvPr id="5" name="Content Placeholder 6">
            <a:extLst>
              <a:ext uri="{FF2B5EF4-FFF2-40B4-BE49-F238E27FC236}">
                <a16:creationId xmlns:a16="http://schemas.microsoft.com/office/drawing/2014/main" id="{D91AE57E-CA0E-DEA3-581A-697F31E3EF53}"/>
              </a:ext>
            </a:extLst>
          </p:cNvPr>
          <p:cNvSpPr txBox="1">
            <a:spLocks/>
          </p:cNvSpPr>
          <p:nvPr/>
        </p:nvSpPr>
        <p:spPr>
          <a:xfrm>
            <a:off x="123825" y="1341438"/>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a:p>
            <a:endParaRPr lang="en-US" dirty="0"/>
          </a:p>
        </p:txBody>
      </p:sp>
      <p:pic>
        <p:nvPicPr>
          <p:cNvPr id="4" name="Picture 3">
            <a:extLst>
              <a:ext uri="{FF2B5EF4-FFF2-40B4-BE49-F238E27FC236}">
                <a16:creationId xmlns:a16="http://schemas.microsoft.com/office/drawing/2014/main" id="{8838D042-4707-24A3-4B6C-3C144A5EDE49}"/>
              </a:ext>
            </a:extLst>
          </p:cNvPr>
          <p:cNvPicPr>
            <a:picLocks noChangeAspect="1"/>
          </p:cNvPicPr>
          <p:nvPr/>
        </p:nvPicPr>
        <p:blipFill>
          <a:blip r:embed="rId2"/>
          <a:stretch>
            <a:fillRect/>
          </a:stretch>
        </p:blipFill>
        <p:spPr>
          <a:xfrm>
            <a:off x="353072" y="1165224"/>
            <a:ext cx="5129100" cy="2905428"/>
          </a:xfrm>
          <a:prstGeom prst="rect">
            <a:avLst/>
          </a:prstGeom>
        </p:spPr>
      </p:pic>
      <p:pic>
        <p:nvPicPr>
          <p:cNvPr id="7" name="Picture 6">
            <a:extLst>
              <a:ext uri="{FF2B5EF4-FFF2-40B4-BE49-F238E27FC236}">
                <a16:creationId xmlns:a16="http://schemas.microsoft.com/office/drawing/2014/main" id="{230DC853-04DA-FA11-4ED6-8685A74FB53D}"/>
              </a:ext>
            </a:extLst>
          </p:cNvPr>
          <p:cNvPicPr>
            <a:picLocks noChangeAspect="1"/>
          </p:cNvPicPr>
          <p:nvPr/>
        </p:nvPicPr>
        <p:blipFill>
          <a:blip r:embed="rId3"/>
          <a:stretch>
            <a:fillRect/>
          </a:stretch>
        </p:blipFill>
        <p:spPr>
          <a:xfrm>
            <a:off x="6633628" y="2827639"/>
            <a:ext cx="4971403" cy="421552"/>
          </a:xfrm>
          <a:prstGeom prst="rect">
            <a:avLst/>
          </a:prstGeom>
        </p:spPr>
      </p:pic>
      <p:sp>
        <p:nvSpPr>
          <p:cNvPr id="8" name="Arrow: Right 7">
            <a:extLst>
              <a:ext uri="{FF2B5EF4-FFF2-40B4-BE49-F238E27FC236}">
                <a16:creationId xmlns:a16="http://schemas.microsoft.com/office/drawing/2014/main" id="{0AAD4301-8FBA-6B16-D312-AF0C8AE313A5}"/>
              </a:ext>
            </a:extLst>
          </p:cNvPr>
          <p:cNvSpPr/>
          <p:nvPr/>
        </p:nvSpPr>
        <p:spPr>
          <a:xfrm>
            <a:off x="5676900" y="2886075"/>
            <a:ext cx="762000" cy="31432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1A44C05B-461F-BBD7-EDA8-0BF19F80B755}"/>
              </a:ext>
            </a:extLst>
          </p:cNvPr>
          <p:cNvSpPr txBox="1"/>
          <p:nvPr/>
        </p:nvSpPr>
        <p:spPr>
          <a:xfrm>
            <a:off x="447675" y="4429125"/>
            <a:ext cx="10839450" cy="646331"/>
          </a:xfrm>
          <a:prstGeom prst="rect">
            <a:avLst/>
          </a:prstGeom>
          <a:noFill/>
        </p:spPr>
        <p:txBody>
          <a:bodyPr wrap="square" rtlCol="0">
            <a:spAutoFit/>
          </a:bodyPr>
          <a:lstStyle/>
          <a:p>
            <a:r>
              <a:rPr lang="en-US" b="1" dirty="0"/>
              <a:t>So we need to pass coroutine object to  async code run. It's going to wait for that to finish and it's going to start the event loop for us where it handles all of our asynchronous programing. </a:t>
            </a:r>
          </a:p>
        </p:txBody>
      </p:sp>
    </p:spTree>
    <p:extLst>
      <p:ext uri="{BB962C8B-B14F-4D97-AF65-F5344CB8AC3E}">
        <p14:creationId xmlns:p14="http://schemas.microsoft.com/office/powerpoint/2010/main" val="14625487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81E0E-68F4-89C7-FF50-73D1D867FF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EE3528-634D-C6B6-778B-6A85506584E8}"/>
              </a:ext>
            </a:extLst>
          </p:cNvPr>
          <p:cNvSpPr>
            <a:spLocks noGrp="1"/>
          </p:cNvSpPr>
          <p:nvPr>
            <p:ph type="title"/>
          </p:nvPr>
        </p:nvSpPr>
        <p:spPr>
          <a:xfrm>
            <a:off x="-1565" y="0"/>
            <a:ext cx="12193565" cy="1122363"/>
          </a:xfrm>
        </p:spPr>
        <p:txBody>
          <a:bodyPr/>
          <a:lstStyle/>
          <a:p>
            <a:r>
              <a:rPr lang="en-US" dirty="0">
                <a:solidFill>
                  <a:srgbClr val="0070C0"/>
                </a:solidFill>
              </a:rPr>
              <a:t>Managing Concurrency: Tasks</a:t>
            </a:r>
          </a:p>
        </p:txBody>
      </p:sp>
      <p:sp>
        <p:nvSpPr>
          <p:cNvPr id="5" name="Content Placeholder 6">
            <a:extLst>
              <a:ext uri="{FF2B5EF4-FFF2-40B4-BE49-F238E27FC236}">
                <a16:creationId xmlns:a16="http://schemas.microsoft.com/office/drawing/2014/main" id="{F46A68BB-34AC-F753-ADB5-EDF289F96170}"/>
              </a:ext>
            </a:extLst>
          </p:cNvPr>
          <p:cNvSpPr txBox="1">
            <a:spLocks/>
          </p:cNvSpPr>
          <p:nvPr/>
        </p:nvSpPr>
        <p:spPr>
          <a:xfrm>
            <a:off x="95250" y="1350963"/>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sp>
        <p:nvSpPr>
          <p:cNvPr id="3" name="Title 1">
            <a:extLst>
              <a:ext uri="{FF2B5EF4-FFF2-40B4-BE49-F238E27FC236}">
                <a16:creationId xmlns:a16="http://schemas.microsoft.com/office/drawing/2014/main" id="{EB1B2F53-0C48-129D-3458-8BD7750A8D4E}"/>
              </a:ext>
            </a:extLst>
          </p:cNvPr>
          <p:cNvSpPr txBox="1">
            <a:spLocks/>
          </p:cNvSpPr>
          <p:nvPr/>
        </p:nvSpPr>
        <p:spPr>
          <a:xfrm>
            <a:off x="0" y="0"/>
            <a:ext cx="12193565" cy="11223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70C0"/>
              </a:solidFill>
            </a:endParaRPr>
          </a:p>
        </p:txBody>
      </p:sp>
      <p:pic>
        <p:nvPicPr>
          <p:cNvPr id="11" name="Picture 10">
            <a:extLst>
              <a:ext uri="{FF2B5EF4-FFF2-40B4-BE49-F238E27FC236}">
                <a16:creationId xmlns:a16="http://schemas.microsoft.com/office/drawing/2014/main" id="{4E3C62BD-FDB6-E1B1-EEDB-5B239011CAC4}"/>
              </a:ext>
            </a:extLst>
          </p:cNvPr>
          <p:cNvPicPr>
            <a:picLocks noChangeAspect="1"/>
          </p:cNvPicPr>
          <p:nvPr/>
        </p:nvPicPr>
        <p:blipFill>
          <a:blip r:embed="rId2"/>
          <a:stretch>
            <a:fillRect/>
          </a:stretch>
        </p:blipFill>
        <p:spPr>
          <a:xfrm>
            <a:off x="247650" y="5038066"/>
            <a:ext cx="1514686" cy="295316"/>
          </a:xfrm>
          <a:prstGeom prst="rect">
            <a:avLst/>
          </a:prstGeom>
        </p:spPr>
      </p:pic>
      <p:sp>
        <p:nvSpPr>
          <p:cNvPr id="14" name="Arrow: Right 13">
            <a:extLst>
              <a:ext uri="{FF2B5EF4-FFF2-40B4-BE49-F238E27FC236}">
                <a16:creationId xmlns:a16="http://schemas.microsoft.com/office/drawing/2014/main" id="{5F0C2A14-FD08-26AF-4A75-2EFC21A45FBA}"/>
              </a:ext>
            </a:extLst>
          </p:cNvPr>
          <p:cNvSpPr/>
          <p:nvPr/>
        </p:nvSpPr>
        <p:spPr>
          <a:xfrm>
            <a:off x="1876425" y="5114286"/>
            <a:ext cx="552450" cy="14287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300E0FEA-3C4C-CC7C-EB7E-2841F75C9B93}"/>
              </a:ext>
            </a:extLst>
          </p:cNvPr>
          <p:cNvSpPr txBox="1"/>
          <p:nvPr/>
        </p:nvSpPr>
        <p:spPr>
          <a:xfrm>
            <a:off x="2724150" y="5038066"/>
            <a:ext cx="7419975" cy="369332"/>
          </a:xfrm>
          <a:prstGeom prst="rect">
            <a:avLst/>
          </a:prstGeom>
          <a:noFill/>
        </p:spPr>
        <p:txBody>
          <a:bodyPr wrap="square" rtlCol="0">
            <a:spAutoFit/>
          </a:bodyPr>
          <a:lstStyle/>
          <a:p>
            <a:r>
              <a:rPr lang="en-US" dirty="0"/>
              <a:t>This will not be executed until the coroutine is awaited </a:t>
            </a:r>
          </a:p>
        </p:txBody>
      </p:sp>
      <p:pic>
        <p:nvPicPr>
          <p:cNvPr id="17" name="Picture 16">
            <a:extLst>
              <a:ext uri="{FF2B5EF4-FFF2-40B4-BE49-F238E27FC236}">
                <a16:creationId xmlns:a16="http://schemas.microsoft.com/office/drawing/2014/main" id="{58252A78-3E6A-FA41-5B72-776DC605D90C}"/>
              </a:ext>
            </a:extLst>
          </p:cNvPr>
          <p:cNvPicPr>
            <a:picLocks noChangeAspect="1"/>
          </p:cNvPicPr>
          <p:nvPr/>
        </p:nvPicPr>
        <p:blipFill>
          <a:blip r:embed="rId3"/>
          <a:stretch>
            <a:fillRect/>
          </a:stretch>
        </p:blipFill>
        <p:spPr>
          <a:xfrm>
            <a:off x="171253" y="5607006"/>
            <a:ext cx="2819794" cy="647790"/>
          </a:xfrm>
          <a:prstGeom prst="rect">
            <a:avLst/>
          </a:prstGeom>
        </p:spPr>
      </p:pic>
      <p:sp>
        <p:nvSpPr>
          <p:cNvPr id="18" name="Arrow: Right 17">
            <a:extLst>
              <a:ext uri="{FF2B5EF4-FFF2-40B4-BE49-F238E27FC236}">
                <a16:creationId xmlns:a16="http://schemas.microsoft.com/office/drawing/2014/main" id="{A905C852-04DF-00CE-C5E3-555E38A333E4}"/>
              </a:ext>
            </a:extLst>
          </p:cNvPr>
          <p:cNvSpPr/>
          <p:nvPr/>
        </p:nvSpPr>
        <p:spPr>
          <a:xfrm>
            <a:off x="3114675" y="5810250"/>
            <a:ext cx="1152525" cy="29907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0680F915-629B-C0D7-EA17-8FD642670965}"/>
              </a:ext>
            </a:extLst>
          </p:cNvPr>
          <p:cNvSpPr txBox="1"/>
          <p:nvPr/>
        </p:nvSpPr>
        <p:spPr>
          <a:xfrm>
            <a:off x="4429125" y="5778973"/>
            <a:ext cx="7296150" cy="369332"/>
          </a:xfrm>
          <a:prstGeom prst="rect">
            <a:avLst/>
          </a:prstGeom>
          <a:noFill/>
        </p:spPr>
        <p:txBody>
          <a:bodyPr wrap="square" rtlCol="0">
            <a:spAutoFit/>
          </a:bodyPr>
          <a:lstStyle/>
          <a:p>
            <a:r>
              <a:rPr lang="en-US" dirty="0"/>
              <a:t>Here we will not proceed the rest of the code until the task is finished</a:t>
            </a:r>
          </a:p>
        </p:txBody>
      </p:sp>
      <p:pic>
        <p:nvPicPr>
          <p:cNvPr id="21" name="Picture 20">
            <a:extLst>
              <a:ext uri="{FF2B5EF4-FFF2-40B4-BE49-F238E27FC236}">
                <a16:creationId xmlns:a16="http://schemas.microsoft.com/office/drawing/2014/main" id="{31D38A84-1EB6-A0FF-63EA-7C1535746F52}"/>
              </a:ext>
            </a:extLst>
          </p:cNvPr>
          <p:cNvPicPr>
            <a:picLocks noChangeAspect="1"/>
          </p:cNvPicPr>
          <p:nvPr/>
        </p:nvPicPr>
        <p:blipFill>
          <a:blip r:embed="rId4"/>
          <a:stretch>
            <a:fillRect/>
          </a:stretch>
        </p:blipFill>
        <p:spPr>
          <a:xfrm>
            <a:off x="171253" y="1122363"/>
            <a:ext cx="6315125" cy="3514021"/>
          </a:xfrm>
          <a:prstGeom prst="rect">
            <a:avLst/>
          </a:prstGeom>
        </p:spPr>
      </p:pic>
      <p:pic>
        <p:nvPicPr>
          <p:cNvPr id="23" name="Picture 22">
            <a:extLst>
              <a:ext uri="{FF2B5EF4-FFF2-40B4-BE49-F238E27FC236}">
                <a16:creationId xmlns:a16="http://schemas.microsoft.com/office/drawing/2014/main" id="{26A95473-7BF4-ECD2-08E2-995F7889D4DA}"/>
              </a:ext>
            </a:extLst>
          </p:cNvPr>
          <p:cNvPicPr>
            <a:picLocks noChangeAspect="1"/>
          </p:cNvPicPr>
          <p:nvPr/>
        </p:nvPicPr>
        <p:blipFill>
          <a:blip r:embed="rId5"/>
          <a:stretch>
            <a:fillRect/>
          </a:stretch>
        </p:blipFill>
        <p:spPr>
          <a:xfrm>
            <a:off x="6776750" y="1155699"/>
            <a:ext cx="5243997" cy="1330781"/>
          </a:xfrm>
          <a:prstGeom prst="rect">
            <a:avLst/>
          </a:prstGeom>
        </p:spPr>
      </p:pic>
      <p:sp>
        <p:nvSpPr>
          <p:cNvPr id="24" name="TextBox 23">
            <a:extLst>
              <a:ext uri="{FF2B5EF4-FFF2-40B4-BE49-F238E27FC236}">
                <a16:creationId xmlns:a16="http://schemas.microsoft.com/office/drawing/2014/main" id="{33B9CC3C-108E-A540-D521-6A2AC5094CFC}"/>
              </a:ext>
            </a:extLst>
          </p:cNvPr>
          <p:cNvSpPr txBox="1"/>
          <p:nvPr/>
        </p:nvSpPr>
        <p:spPr>
          <a:xfrm>
            <a:off x="6734175" y="2743200"/>
            <a:ext cx="5286572" cy="1477328"/>
          </a:xfrm>
          <a:prstGeom prst="rect">
            <a:avLst/>
          </a:prstGeom>
          <a:noFill/>
        </p:spPr>
        <p:txBody>
          <a:bodyPr wrap="square" rtlCol="0">
            <a:spAutoFit/>
          </a:bodyPr>
          <a:lstStyle/>
          <a:p>
            <a:r>
              <a:rPr lang="en-US" dirty="0"/>
              <a:t>It seems like they are not running concurrently and this is because  code routine doesn't start running until it's awaited. So in this case we actually wait for the first code routine to finish and then start with the second and the solution here is create tasks</a:t>
            </a:r>
          </a:p>
        </p:txBody>
      </p:sp>
    </p:spTree>
    <p:extLst>
      <p:ext uri="{BB962C8B-B14F-4D97-AF65-F5344CB8AC3E}">
        <p14:creationId xmlns:p14="http://schemas.microsoft.com/office/powerpoint/2010/main" val="9998312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261158-305B-6FFC-2AEC-824264EA4E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D7FC9A-5A1E-92D8-930C-0D06DBB79BEE}"/>
              </a:ext>
            </a:extLst>
          </p:cNvPr>
          <p:cNvSpPr>
            <a:spLocks noGrp="1"/>
          </p:cNvSpPr>
          <p:nvPr>
            <p:ph type="title"/>
          </p:nvPr>
        </p:nvSpPr>
        <p:spPr>
          <a:xfrm>
            <a:off x="-1565" y="0"/>
            <a:ext cx="12193565" cy="1122363"/>
          </a:xfrm>
        </p:spPr>
        <p:txBody>
          <a:bodyPr/>
          <a:lstStyle/>
          <a:p>
            <a:r>
              <a:rPr lang="en-US" dirty="0">
                <a:solidFill>
                  <a:srgbClr val="0070C0"/>
                </a:solidFill>
              </a:rPr>
              <a:t>Managing Concurrency: Tasks</a:t>
            </a:r>
          </a:p>
        </p:txBody>
      </p:sp>
      <p:sp>
        <p:nvSpPr>
          <p:cNvPr id="5" name="Content Placeholder 6">
            <a:extLst>
              <a:ext uri="{FF2B5EF4-FFF2-40B4-BE49-F238E27FC236}">
                <a16:creationId xmlns:a16="http://schemas.microsoft.com/office/drawing/2014/main" id="{3DFD4EBA-E056-097A-AD90-BEEF2D484766}"/>
              </a:ext>
            </a:extLst>
          </p:cNvPr>
          <p:cNvSpPr txBox="1">
            <a:spLocks/>
          </p:cNvSpPr>
          <p:nvPr/>
        </p:nvSpPr>
        <p:spPr>
          <a:xfrm>
            <a:off x="95250" y="1350963"/>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sp>
        <p:nvSpPr>
          <p:cNvPr id="3" name="Title 1">
            <a:extLst>
              <a:ext uri="{FF2B5EF4-FFF2-40B4-BE49-F238E27FC236}">
                <a16:creationId xmlns:a16="http://schemas.microsoft.com/office/drawing/2014/main" id="{4634D5C8-A984-65C4-3A62-90F98BBD90D2}"/>
              </a:ext>
            </a:extLst>
          </p:cNvPr>
          <p:cNvSpPr txBox="1">
            <a:spLocks/>
          </p:cNvSpPr>
          <p:nvPr/>
        </p:nvSpPr>
        <p:spPr>
          <a:xfrm>
            <a:off x="0" y="0"/>
            <a:ext cx="12193565" cy="11223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70C0"/>
              </a:solidFill>
            </a:endParaRPr>
          </a:p>
        </p:txBody>
      </p:sp>
      <p:sp>
        <p:nvSpPr>
          <p:cNvPr id="7" name="TextBox 6">
            <a:extLst>
              <a:ext uri="{FF2B5EF4-FFF2-40B4-BE49-F238E27FC236}">
                <a16:creationId xmlns:a16="http://schemas.microsoft.com/office/drawing/2014/main" id="{F373A6D7-DC42-F66E-234E-CC3B4A8E4556}"/>
              </a:ext>
            </a:extLst>
          </p:cNvPr>
          <p:cNvSpPr txBox="1"/>
          <p:nvPr/>
        </p:nvSpPr>
        <p:spPr>
          <a:xfrm>
            <a:off x="200025" y="1350963"/>
            <a:ext cx="11582400" cy="3539430"/>
          </a:xfrm>
          <a:prstGeom prst="rect">
            <a:avLst/>
          </a:prstGeom>
          <a:noFill/>
        </p:spPr>
        <p:txBody>
          <a:bodyPr wrap="square" rtlCol="0">
            <a:spAutoFit/>
          </a:bodyPr>
          <a:lstStyle/>
          <a:p>
            <a:pPr marL="457200" indent="-457200">
              <a:buFont typeface="Arial" panose="020B0604020202020204" pitchFamily="34" charset="0"/>
              <a:buChar char="•"/>
            </a:pPr>
            <a:r>
              <a:rPr lang="en-US" sz="2800" dirty="0" err="1"/>
              <a:t>asyncio.create_task</a:t>
            </a:r>
            <a:r>
              <a:rPr lang="en-US" sz="2800" dirty="0"/>
              <a:t>(): Schedules a coroutine to run in the background immediately.</a:t>
            </a:r>
          </a:p>
          <a:p>
            <a:endParaRPr lang="en-US" sz="2800" dirty="0"/>
          </a:p>
          <a:p>
            <a:pPr marL="457200" indent="-457200">
              <a:buFont typeface="Arial" panose="020B0604020202020204" pitchFamily="34" charset="0"/>
              <a:buChar char="•"/>
            </a:pPr>
            <a:r>
              <a:rPr lang="en-US" sz="2800" dirty="0" err="1"/>
              <a:t>asyncio.gather</a:t>
            </a:r>
            <a:r>
              <a:rPr lang="en-US" sz="2800" dirty="0"/>
              <a:t>(): Runs multiple coroutines concurrently and collects their results into a list.</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err="1"/>
              <a:t>TaskGroups</a:t>
            </a:r>
            <a:r>
              <a:rPr lang="en-US" sz="2800" dirty="0"/>
              <a:t>: The modern way to group tasks (using 'async with </a:t>
            </a:r>
            <a:r>
              <a:rPr lang="en-US" sz="2800" dirty="0" err="1"/>
              <a:t>TaskGroup</a:t>
            </a:r>
            <a:r>
              <a:rPr lang="en-US" sz="2800" dirty="0"/>
              <a:t>') with built-in error handling.</a:t>
            </a:r>
          </a:p>
        </p:txBody>
      </p:sp>
    </p:spTree>
    <p:extLst>
      <p:ext uri="{BB962C8B-B14F-4D97-AF65-F5344CB8AC3E}">
        <p14:creationId xmlns:p14="http://schemas.microsoft.com/office/powerpoint/2010/main" val="21400518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3531EA-B86C-0AB8-2770-6EEE572555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F4CFF2-B5A7-6F62-A3F3-952725F108EA}"/>
              </a:ext>
            </a:extLst>
          </p:cNvPr>
          <p:cNvSpPr>
            <a:spLocks noGrp="1"/>
          </p:cNvSpPr>
          <p:nvPr>
            <p:ph type="title"/>
          </p:nvPr>
        </p:nvSpPr>
        <p:spPr>
          <a:xfrm>
            <a:off x="-1565" y="0"/>
            <a:ext cx="12193565" cy="1122363"/>
          </a:xfrm>
        </p:spPr>
        <p:txBody>
          <a:bodyPr/>
          <a:lstStyle/>
          <a:p>
            <a:r>
              <a:rPr lang="en-US" dirty="0">
                <a:solidFill>
                  <a:srgbClr val="0070C0"/>
                </a:solidFill>
              </a:rPr>
              <a:t>Managing Concurrency: Tasks</a:t>
            </a:r>
          </a:p>
        </p:txBody>
      </p:sp>
      <p:sp>
        <p:nvSpPr>
          <p:cNvPr id="5" name="Content Placeholder 6">
            <a:extLst>
              <a:ext uri="{FF2B5EF4-FFF2-40B4-BE49-F238E27FC236}">
                <a16:creationId xmlns:a16="http://schemas.microsoft.com/office/drawing/2014/main" id="{FED095EC-1B6C-1267-373B-ED403760C4DE}"/>
              </a:ext>
            </a:extLst>
          </p:cNvPr>
          <p:cNvSpPr txBox="1">
            <a:spLocks/>
          </p:cNvSpPr>
          <p:nvPr/>
        </p:nvSpPr>
        <p:spPr>
          <a:xfrm>
            <a:off x="95250" y="1350963"/>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sp>
        <p:nvSpPr>
          <p:cNvPr id="3" name="Title 1">
            <a:extLst>
              <a:ext uri="{FF2B5EF4-FFF2-40B4-BE49-F238E27FC236}">
                <a16:creationId xmlns:a16="http://schemas.microsoft.com/office/drawing/2014/main" id="{8EA87500-D909-CB18-CBED-1631B24171C0}"/>
              </a:ext>
            </a:extLst>
          </p:cNvPr>
          <p:cNvSpPr txBox="1">
            <a:spLocks/>
          </p:cNvSpPr>
          <p:nvPr/>
        </p:nvSpPr>
        <p:spPr>
          <a:xfrm>
            <a:off x="0" y="0"/>
            <a:ext cx="12193565" cy="11223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70C0"/>
              </a:solidFill>
            </a:endParaRPr>
          </a:p>
        </p:txBody>
      </p:sp>
      <p:pic>
        <p:nvPicPr>
          <p:cNvPr id="6" name="Picture 5">
            <a:extLst>
              <a:ext uri="{FF2B5EF4-FFF2-40B4-BE49-F238E27FC236}">
                <a16:creationId xmlns:a16="http://schemas.microsoft.com/office/drawing/2014/main" id="{1C6A0967-A381-1CF1-A7A4-D5BF3DDA059E}"/>
              </a:ext>
            </a:extLst>
          </p:cNvPr>
          <p:cNvPicPr>
            <a:picLocks noChangeAspect="1"/>
          </p:cNvPicPr>
          <p:nvPr/>
        </p:nvPicPr>
        <p:blipFill>
          <a:blip r:embed="rId2"/>
          <a:stretch>
            <a:fillRect/>
          </a:stretch>
        </p:blipFill>
        <p:spPr>
          <a:xfrm>
            <a:off x="1185673" y="1184274"/>
            <a:ext cx="5583265" cy="3886493"/>
          </a:xfrm>
          <a:prstGeom prst="rect">
            <a:avLst/>
          </a:prstGeom>
        </p:spPr>
      </p:pic>
      <p:pic>
        <p:nvPicPr>
          <p:cNvPr id="9" name="Picture 8">
            <a:extLst>
              <a:ext uri="{FF2B5EF4-FFF2-40B4-BE49-F238E27FC236}">
                <a16:creationId xmlns:a16="http://schemas.microsoft.com/office/drawing/2014/main" id="{278D797A-C11B-4D96-C011-B65E0564A2EF}"/>
              </a:ext>
            </a:extLst>
          </p:cNvPr>
          <p:cNvPicPr>
            <a:picLocks noChangeAspect="1"/>
          </p:cNvPicPr>
          <p:nvPr/>
        </p:nvPicPr>
        <p:blipFill>
          <a:blip r:embed="rId3"/>
          <a:stretch>
            <a:fillRect/>
          </a:stretch>
        </p:blipFill>
        <p:spPr>
          <a:xfrm>
            <a:off x="1185673" y="5507037"/>
            <a:ext cx="9425177" cy="809813"/>
          </a:xfrm>
          <a:prstGeom prst="rect">
            <a:avLst/>
          </a:prstGeom>
        </p:spPr>
      </p:pic>
      <p:sp>
        <p:nvSpPr>
          <p:cNvPr id="10" name="TextBox 9">
            <a:extLst>
              <a:ext uri="{FF2B5EF4-FFF2-40B4-BE49-F238E27FC236}">
                <a16:creationId xmlns:a16="http://schemas.microsoft.com/office/drawing/2014/main" id="{FF5E4187-58F5-4A57-34C5-788D647AC59B}"/>
              </a:ext>
            </a:extLst>
          </p:cNvPr>
          <p:cNvSpPr txBox="1"/>
          <p:nvPr/>
        </p:nvSpPr>
        <p:spPr>
          <a:xfrm>
            <a:off x="7772400" y="2717945"/>
            <a:ext cx="3548252" cy="461665"/>
          </a:xfrm>
          <a:prstGeom prst="rect">
            <a:avLst/>
          </a:prstGeom>
          <a:noFill/>
        </p:spPr>
        <p:txBody>
          <a:bodyPr wrap="square" rtlCol="0">
            <a:spAutoFit/>
          </a:bodyPr>
          <a:lstStyle/>
          <a:p>
            <a:r>
              <a:rPr lang="en-US" sz="2400" b="1" dirty="0"/>
              <a:t>They ran concurrently </a:t>
            </a:r>
          </a:p>
        </p:txBody>
      </p:sp>
    </p:spTree>
    <p:extLst>
      <p:ext uri="{BB962C8B-B14F-4D97-AF65-F5344CB8AC3E}">
        <p14:creationId xmlns:p14="http://schemas.microsoft.com/office/powerpoint/2010/main" val="8920650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EA6BFA-2CA3-5F67-4345-0CB96BAED8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8FB6A4-9973-72E4-42F1-CBF7A4FEC202}"/>
              </a:ext>
            </a:extLst>
          </p:cNvPr>
          <p:cNvSpPr>
            <a:spLocks noGrp="1"/>
          </p:cNvSpPr>
          <p:nvPr>
            <p:ph type="title"/>
          </p:nvPr>
        </p:nvSpPr>
        <p:spPr>
          <a:xfrm>
            <a:off x="-1565" y="0"/>
            <a:ext cx="12193565" cy="1122363"/>
          </a:xfrm>
        </p:spPr>
        <p:txBody>
          <a:bodyPr/>
          <a:lstStyle/>
          <a:p>
            <a:r>
              <a:rPr lang="en-US" dirty="0">
                <a:solidFill>
                  <a:srgbClr val="0070C0"/>
                </a:solidFill>
              </a:rPr>
              <a:t>Keeping it Safe: Synchronization Primitives</a:t>
            </a:r>
          </a:p>
        </p:txBody>
      </p:sp>
      <p:sp>
        <p:nvSpPr>
          <p:cNvPr id="5" name="Title 1">
            <a:extLst>
              <a:ext uri="{FF2B5EF4-FFF2-40B4-BE49-F238E27FC236}">
                <a16:creationId xmlns:a16="http://schemas.microsoft.com/office/drawing/2014/main" id="{5D915CF1-7A38-1093-04F5-A04BAAD8C454}"/>
              </a:ext>
            </a:extLst>
          </p:cNvPr>
          <p:cNvSpPr txBox="1">
            <a:spLocks/>
          </p:cNvSpPr>
          <p:nvPr/>
        </p:nvSpPr>
        <p:spPr>
          <a:xfrm>
            <a:off x="-1565" y="0"/>
            <a:ext cx="12193565" cy="11223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70C0"/>
              </a:solidFill>
            </a:endParaRPr>
          </a:p>
        </p:txBody>
      </p:sp>
      <p:sp>
        <p:nvSpPr>
          <p:cNvPr id="7" name="TextBox 6">
            <a:extLst>
              <a:ext uri="{FF2B5EF4-FFF2-40B4-BE49-F238E27FC236}">
                <a16:creationId xmlns:a16="http://schemas.microsoft.com/office/drawing/2014/main" id="{939893DC-F1B1-658A-69E6-BAE0E964BC49}"/>
              </a:ext>
            </a:extLst>
          </p:cNvPr>
          <p:cNvSpPr txBox="1"/>
          <p:nvPr/>
        </p:nvSpPr>
        <p:spPr>
          <a:xfrm>
            <a:off x="1819275" y="1895475"/>
            <a:ext cx="184731" cy="369332"/>
          </a:xfrm>
          <a:prstGeom prst="rect">
            <a:avLst/>
          </a:prstGeom>
          <a:noFill/>
        </p:spPr>
        <p:txBody>
          <a:bodyPr wrap="none" rtlCol="0">
            <a:spAutoFit/>
          </a:bodyPr>
          <a:lstStyle/>
          <a:p>
            <a:endParaRPr lang="en-US" dirty="0"/>
          </a:p>
        </p:txBody>
      </p:sp>
      <p:sp>
        <p:nvSpPr>
          <p:cNvPr id="11" name="Rectangle 5">
            <a:extLst>
              <a:ext uri="{FF2B5EF4-FFF2-40B4-BE49-F238E27FC236}">
                <a16:creationId xmlns:a16="http://schemas.microsoft.com/office/drawing/2014/main" id="{C7487A3C-F29D-3B3F-FE79-A777334E0B08}"/>
              </a:ext>
            </a:extLst>
          </p:cNvPr>
          <p:cNvSpPr>
            <a:spLocks noChangeArrowheads="1"/>
          </p:cNvSpPr>
          <p:nvPr/>
        </p:nvSpPr>
        <p:spPr bwMode="auto">
          <a:xfrm>
            <a:off x="130367" y="-2582749"/>
            <a:ext cx="4124325" cy="5032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Google Sans Text"/>
              </a:rPr>
              <a:t>The Limit:</a:t>
            </a:r>
            <a:r>
              <a:rPr kumimoji="0" lang="en-US" altLang="en-US" sz="1800" b="0" i="0" u="none" strike="noStrike" cap="none" normalizeH="0" baseline="0" dirty="0">
                <a:ln>
                  <a:noFill/>
                </a:ln>
                <a:solidFill>
                  <a:schemeClr val="tx1"/>
                </a:solidFill>
                <a:effectLst/>
              </a:rPr>
              <a:t> The</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p>
        </p:txBody>
      </p:sp>
      <p:sp>
        <p:nvSpPr>
          <p:cNvPr id="3" name="TextBox 2">
            <a:extLst>
              <a:ext uri="{FF2B5EF4-FFF2-40B4-BE49-F238E27FC236}">
                <a16:creationId xmlns:a16="http://schemas.microsoft.com/office/drawing/2014/main" id="{F813303C-1DC5-757A-4492-284A07ED212D}"/>
              </a:ext>
            </a:extLst>
          </p:cNvPr>
          <p:cNvSpPr txBox="1"/>
          <p:nvPr/>
        </p:nvSpPr>
        <p:spPr>
          <a:xfrm>
            <a:off x="276225" y="1352550"/>
            <a:ext cx="11382375" cy="3539430"/>
          </a:xfrm>
          <a:prstGeom prst="rect">
            <a:avLst/>
          </a:prstGeom>
          <a:noFill/>
        </p:spPr>
        <p:txBody>
          <a:bodyPr wrap="square" rtlCol="0">
            <a:spAutoFit/>
          </a:bodyPr>
          <a:lstStyle/>
          <a:p>
            <a:pPr marL="457200" indent="-457200">
              <a:buFont typeface="Arial" panose="020B0604020202020204" pitchFamily="34" charset="0"/>
              <a:buChar char="•"/>
            </a:pPr>
            <a:r>
              <a:rPr lang="en-US" sz="2800" dirty="0"/>
              <a:t>Lock: Protects a shared resource. Ensures only one coroutine accesses it at a time.</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Semaphore: Limits access to a specific number of coroutines (e.g., max 5 network requests).</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Event: A simple Boolean flag that allows code to block until another part sets the flag to True.</a:t>
            </a:r>
          </a:p>
        </p:txBody>
      </p:sp>
    </p:spTree>
    <p:extLst>
      <p:ext uri="{BB962C8B-B14F-4D97-AF65-F5344CB8AC3E}">
        <p14:creationId xmlns:p14="http://schemas.microsoft.com/office/powerpoint/2010/main" val="19761202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82C7E-F7A6-D3E1-426F-A95A0F66F4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A7536D-C047-40EE-BAC0-D27045820E43}"/>
              </a:ext>
            </a:extLst>
          </p:cNvPr>
          <p:cNvSpPr>
            <a:spLocks noGrp="1"/>
          </p:cNvSpPr>
          <p:nvPr>
            <p:ph type="title"/>
          </p:nvPr>
        </p:nvSpPr>
        <p:spPr>
          <a:xfrm>
            <a:off x="-1565" y="0"/>
            <a:ext cx="12193565" cy="1122363"/>
          </a:xfrm>
        </p:spPr>
        <p:txBody>
          <a:bodyPr/>
          <a:lstStyle/>
          <a:p>
            <a:r>
              <a:rPr lang="en-US" dirty="0">
                <a:solidFill>
                  <a:srgbClr val="0070C0"/>
                </a:solidFill>
              </a:rPr>
              <a:t>Summary &amp; Key Takeaways</a:t>
            </a:r>
          </a:p>
        </p:txBody>
      </p:sp>
      <p:sp>
        <p:nvSpPr>
          <p:cNvPr id="4" name="Content Placeholder 3">
            <a:extLst>
              <a:ext uri="{FF2B5EF4-FFF2-40B4-BE49-F238E27FC236}">
                <a16:creationId xmlns:a16="http://schemas.microsoft.com/office/drawing/2014/main" id="{C8719EB6-E8DB-5961-74A1-45FEB99DF293}"/>
              </a:ext>
            </a:extLst>
          </p:cNvPr>
          <p:cNvSpPr>
            <a:spLocks noGrp="1"/>
          </p:cNvSpPr>
          <p:nvPr>
            <p:ph idx="1"/>
          </p:nvPr>
        </p:nvSpPr>
        <p:spPr>
          <a:xfrm>
            <a:off x="242887" y="1329530"/>
            <a:ext cx="11706225" cy="4747419"/>
          </a:xfrm>
        </p:spPr>
        <p:txBody>
          <a:bodyPr/>
          <a:lstStyle/>
          <a:p>
            <a:r>
              <a:rPr lang="en-US" dirty="0"/>
              <a:t>Efficiency Over Waiting: Async IO maximizes performance by managing many waiting tasks concurrently on a single thread.</a:t>
            </a:r>
          </a:p>
          <a:p>
            <a:endParaRPr lang="en-US" dirty="0"/>
          </a:p>
          <a:p>
            <a:r>
              <a:rPr lang="en-US" dirty="0"/>
              <a:t>The Event Loop is the Engine: It cooperatively pauses and resumes tasks, ensuring the CPU is never idle during I/O delays.</a:t>
            </a:r>
          </a:p>
          <a:p>
            <a:endParaRPr lang="en-US" dirty="0"/>
          </a:p>
          <a:p>
            <a:r>
              <a:rPr lang="en-US" dirty="0"/>
              <a:t>Coroutines &amp; Tasks: Use 'async' and 'await' to define operations, and Tasks to run them simultaneously.</a:t>
            </a:r>
          </a:p>
          <a:p>
            <a:endParaRPr lang="en-US" dirty="0"/>
          </a:p>
          <a:p>
            <a:r>
              <a:rPr lang="en-US" dirty="0"/>
              <a:t>Play it Safe: Always use Synchronization Primitives to protect shared data.</a:t>
            </a:r>
          </a:p>
        </p:txBody>
      </p:sp>
    </p:spTree>
    <p:extLst>
      <p:ext uri="{BB962C8B-B14F-4D97-AF65-F5344CB8AC3E}">
        <p14:creationId xmlns:p14="http://schemas.microsoft.com/office/powerpoint/2010/main" val="40308712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DDCB667A-7087-E2A5-0C4F-80ED331602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91A683-71B6-506A-8189-121B8A182923}"/>
              </a:ext>
            </a:extLst>
          </p:cNvPr>
          <p:cNvSpPr>
            <a:spLocks noGrp="1"/>
          </p:cNvSpPr>
          <p:nvPr>
            <p:ph type="ctrTitle"/>
          </p:nvPr>
        </p:nvSpPr>
        <p:spPr>
          <a:xfrm rot="21261501">
            <a:off x="1642649" y="1469197"/>
            <a:ext cx="9144000" cy="1514013"/>
          </a:xfrm>
        </p:spPr>
        <p:txBody>
          <a:bodyPr>
            <a:normAutofit fontScale="90000"/>
          </a:bodyPr>
          <a:lstStyle/>
          <a:p>
            <a:br>
              <a:rPr lang="en-US" dirty="0">
                <a:solidFill>
                  <a:srgbClr val="0070C0"/>
                </a:solidFill>
              </a:rPr>
            </a:br>
            <a:endParaRPr lang="en-US" sz="4400" dirty="0">
              <a:solidFill>
                <a:srgbClr val="0070C0"/>
              </a:solidFill>
            </a:endParaRPr>
          </a:p>
        </p:txBody>
      </p:sp>
      <p:sp>
        <p:nvSpPr>
          <p:cNvPr id="4" name="TextBox 3">
            <a:extLst>
              <a:ext uri="{FF2B5EF4-FFF2-40B4-BE49-F238E27FC236}">
                <a16:creationId xmlns:a16="http://schemas.microsoft.com/office/drawing/2014/main" id="{480EA3FF-19E3-021A-BE9E-B90DEBCFA0FB}"/>
              </a:ext>
            </a:extLst>
          </p:cNvPr>
          <p:cNvSpPr txBox="1"/>
          <p:nvPr/>
        </p:nvSpPr>
        <p:spPr>
          <a:xfrm>
            <a:off x="2340075" y="2226203"/>
            <a:ext cx="6617111" cy="1477328"/>
          </a:xfrm>
          <a:prstGeom prst="rect">
            <a:avLst/>
          </a:prstGeom>
          <a:noFill/>
        </p:spPr>
        <p:txBody>
          <a:bodyPr wrap="square" rtlCol="0">
            <a:spAutoFit/>
          </a:bodyPr>
          <a:lstStyle/>
          <a:p>
            <a:pPr algn="ctr"/>
            <a:r>
              <a:rPr lang="en-US" b="1" dirty="0"/>
              <a:t>	</a:t>
            </a:r>
          </a:p>
          <a:p>
            <a:pPr algn="ctr"/>
            <a:r>
              <a:rPr lang="en-US" sz="4800" b="1" dirty="0">
                <a:solidFill>
                  <a:schemeClr val="accent1"/>
                </a:solidFill>
                <a:latin typeface="Cambria" panose="02040503050406030204" pitchFamily="18" charset="0"/>
                <a:ea typeface="Cambria" panose="02040503050406030204" pitchFamily="18" charset="0"/>
                <a:cs typeface="Calibri" panose="020F0502020204030204" pitchFamily="34" charset="0"/>
              </a:rPr>
              <a:t>	</a:t>
            </a:r>
            <a:r>
              <a:rPr lang="en-US" sz="7200" b="1" dirty="0">
                <a:solidFill>
                  <a:schemeClr val="accent1"/>
                </a:solidFill>
                <a:latin typeface="Cambria" panose="02040503050406030204" pitchFamily="18" charset="0"/>
                <a:ea typeface="Cambria" panose="02040503050406030204" pitchFamily="18" charset="0"/>
                <a:cs typeface="Calibri" panose="020F0502020204030204" pitchFamily="34" charset="0"/>
              </a:rPr>
              <a:t>Thank You!</a:t>
            </a:r>
            <a:endParaRPr lang="en-US" sz="4800" b="1" dirty="0">
              <a:solidFill>
                <a:schemeClr val="accent1"/>
              </a:solidFill>
              <a:latin typeface="Cambria" panose="02040503050406030204" pitchFamily="18" charset="0"/>
              <a:ea typeface="Cambria" panose="02040503050406030204" pitchFamily="18" charset="0"/>
              <a:cs typeface="Calibri" panose="020F0502020204030204" pitchFamily="34" charset="0"/>
            </a:endParaRPr>
          </a:p>
        </p:txBody>
      </p:sp>
    </p:spTree>
    <p:extLst>
      <p:ext uri="{BB962C8B-B14F-4D97-AF65-F5344CB8AC3E}">
        <p14:creationId xmlns:p14="http://schemas.microsoft.com/office/powerpoint/2010/main" val="32421567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1490</TotalTime>
  <Words>721</Words>
  <Application>Microsoft Office PowerPoint</Application>
  <PresentationFormat>Widescreen</PresentationFormat>
  <Paragraphs>86</Paragraphs>
  <Slides>14</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Aptos</vt:lpstr>
      <vt:lpstr>Aptos Display</vt:lpstr>
      <vt:lpstr>Arial</vt:lpstr>
      <vt:lpstr>Cambria</vt:lpstr>
      <vt:lpstr>Google Sans Text</vt:lpstr>
      <vt:lpstr>Wingdings</vt:lpstr>
      <vt:lpstr>Office Theme</vt:lpstr>
      <vt:lpstr> Asynchronous Programming in Python</vt:lpstr>
      <vt:lpstr>The Core Concept: Sync vs. Async</vt:lpstr>
      <vt:lpstr>The Core Concept: Sync vs. Async</vt:lpstr>
      <vt:lpstr>Concurrency Models</vt:lpstr>
      <vt:lpstr>Event Loop</vt:lpstr>
      <vt:lpstr>Event loop</vt:lpstr>
      <vt:lpstr>Coroutines &amp; The `await` Keyword</vt:lpstr>
      <vt:lpstr>Coroutines &amp; The `await` Keyword</vt:lpstr>
      <vt:lpstr>Managing Concurrency: Tasks</vt:lpstr>
      <vt:lpstr>Managing Concurrency: Tasks</vt:lpstr>
      <vt:lpstr>Managing Concurrency: Tasks</vt:lpstr>
      <vt:lpstr>Keeping it Safe: Synchronization Primitives</vt:lpstr>
      <vt:lpstr>Summary &amp; Key Takeaways</vt:lpstr>
      <vt:lpst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Mohamed adel abdelrahem ahmed 2100395</dc:creator>
  <cp:lastModifiedBy>Ahmed Hossam rafik algamal 2101209</cp:lastModifiedBy>
  <cp:revision>37</cp:revision>
  <dcterms:created xsi:type="dcterms:W3CDTF">2025-08-04T12:47:52Z</dcterms:created>
  <dcterms:modified xsi:type="dcterms:W3CDTF">2026-02-26T07:16:13Z</dcterms:modified>
</cp:coreProperties>
</file>